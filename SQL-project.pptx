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60" r:id="rId5"/>
    <p:sldId id="293" r:id="rId6"/>
    <p:sldId id="282" r:id="rId7"/>
    <p:sldId id="262" r:id="rId8"/>
    <p:sldId id="292" r:id="rId9"/>
    <p:sldId id="263" r:id="rId10"/>
    <p:sldId id="264" r:id="rId11"/>
    <p:sldId id="272" r:id="rId12"/>
    <p:sldId id="275" r:id="rId13"/>
    <p:sldId id="289" r:id="rId14"/>
    <p:sldId id="288" r:id="rId15"/>
    <p:sldId id="285" r:id="rId16"/>
    <p:sldId id="286" r:id="rId17"/>
    <p:sldId id="284" r:id="rId18"/>
    <p:sldId id="287" r:id="rId19"/>
    <p:sldId id="290" r:id="rId20"/>
    <p:sldId id="291" r:id="rId21"/>
    <p:sldId id="278" r:id="rId22"/>
    <p:sldId id="283" r:id="rId23"/>
    <p:sldId id="294" r:id="rId24"/>
    <p:sldId id="281" r:id="rId25"/>
    <p:sldId id="259" r:id="rId26"/>
  </p:sldIdLst>
  <p:sldSz cx="12192000" cy="6858000"/>
  <p:notesSz cx="6858000" cy="9144000"/>
  <p:embeddedFontLst>
    <p:embeddedFont>
      <p:font typeface="Lato Black" panose="020F0502020204030203" pitchFamily="34" charset="0"/>
      <p:bold r:id="rId28"/>
      <p:boldItalic r:id="rId29"/>
    </p:embeddedFont>
    <p:embeddedFont>
      <p:font typeface="Libre Baskerville"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5B8650-9B1A-4CAA-829D-3B4475D63F1F}" v="3" dt="2026-10-03T05:47:27.5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hila1482005@gmail.com" userId="b51a16d5da6ee615" providerId="LiveId" clId="{4D1F4FC1-3913-4F6A-850A-7FC27E3E707E}"/>
    <pc:docChg chg="addSld delSld modSld">
      <pc:chgData name="akhila1482005@gmail.com" userId="b51a16d5da6ee615" providerId="LiveId" clId="{4D1F4FC1-3913-4F6A-850A-7FC27E3E707E}" dt="2026-10-03T05:52:04.925" v="10" actId="20577"/>
      <pc:docMkLst>
        <pc:docMk/>
      </pc:docMkLst>
      <pc:sldChg chg="modTransition">
        <pc:chgData name="akhila1482005@gmail.com" userId="b51a16d5da6ee615" providerId="LiveId" clId="{4D1F4FC1-3913-4F6A-850A-7FC27E3E707E}" dt="2026-10-03T03:06:47.116" v="7"/>
        <pc:sldMkLst>
          <pc:docMk/>
          <pc:sldMk cId="0" sldId="257"/>
        </pc:sldMkLst>
      </pc:sldChg>
      <pc:sldChg chg="modSp">
        <pc:chgData name="akhila1482005@gmail.com" userId="b51a16d5da6ee615" providerId="LiveId" clId="{4D1F4FC1-3913-4F6A-850A-7FC27E3E707E}" dt="2026-10-03T05:47:27.599" v="8"/>
        <pc:sldMkLst>
          <pc:docMk/>
          <pc:sldMk cId="2896760717" sldId="285"/>
        </pc:sldMkLst>
        <pc:spChg chg="mod">
          <ac:chgData name="akhila1482005@gmail.com" userId="b51a16d5da6ee615" providerId="LiveId" clId="{4D1F4FC1-3913-4F6A-850A-7FC27E3E707E}" dt="2026-10-03T05:47:27.599" v="8"/>
          <ac:spMkLst>
            <pc:docMk/>
            <pc:sldMk cId="2896760717" sldId="285"/>
            <ac:spMk id="3" creationId="{DC7D432C-8A8D-9DCF-0F6B-24B91D77561F}"/>
          </ac:spMkLst>
        </pc:spChg>
      </pc:sldChg>
      <pc:sldChg chg="modSp mod">
        <pc:chgData name="akhila1482005@gmail.com" userId="b51a16d5da6ee615" providerId="LiveId" clId="{4D1F4FC1-3913-4F6A-850A-7FC27E3E707E}" dt="2026-10-03T05:52:04.925" v="10" actId="20577"/>
        <pc:sldMkLst>
          <pc:docMk/>
          <pc:sldMk cId="568499310" sldId="291"/>
        </pc:sldMkLst>
        <pc:spChg chg="mod">
          <ac:chgData name="akhila1482005@gmail.com" userId="b51a16d5da6ee615" providerId="LiveId" clId="{4D1F4FC1-3913-4F6A-850A-7FC27E3E707E}" dt="2026-10-03T05:52:04.925" v="10" actId="20577"/>
          <ac:spMkLst>
            <pc:docMk/>
            <pc:sldMk cId="568499310" sldId="291"/>
            <ac:spMk id="15" creationId="{5297BED3-A010-C321-9FB7-168A8E283298}"/>
          </ac:spMkLst>
        </pc:spChg>
      </pc:sldChg>
      <pc:sldChg chg="new del">
        <pc:chgData name="akhila1482005@gmail.com" userId="b51a16d5da6ee615" providerId="LiveId" clId="{4D1F4FC1-3913-4F6A-850A-7FC27E3E707E}" dt="2026-10-03T03:06:05.473" v="3" actId="47"/>
        <pc:sldMkLst>
          <pc:docMk/>
          <pc:sldMk cId="1153682875" sldId="295"/>
        </pc:sldMkLst>
      </pc:sldChg>
      <pc:sldChg chg="new del">
        <pc:chgData name="akhila1482005@gmail.com" userId="b51a16d5da6ee615" providerId="LiveId" clId="{4D1F4FC1-3913-4F6A-850A-7FC27E3E707E}" dt="2026-10-03T03:06:06.364" v="4" actId="47"/>
        <pc:sldMkLst>
          <pc:docMk/>
          <pc:sldMk cId="3333851125" sldId="296"/>
        </pc:sldMkLst>
      </pc:sldChg>
      <pc:sldChg chg="new del">
        <pc:chgData name="akhila1482005@gmail.com" userId="b51a16d5da6ee615" providerId="LiveId" clId="{4D1F4FC1-3913-4F6A-850A-7FC27E3E707E}" dt="2026-10-03T03:06:07.207" v="5" actId="47"/>
        <pc:sldMkLst>
          <pc:docMk/>
          <pc:sldMk cId="389924562"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pagidi-akhila-077505305"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78518" y="-1"/>
            <a:ext cx="12190815" cy="6787299"/>
          </a:xfrm>
          <a:prstGeom prst="rect">
            <a:avLst/>
          </a:prstGeom>
          <a:noFill/>
          <a:ln>
            <a:noFill/>
          </a:ln>
        </p:spPr>
      </p:pic>
      <p:sp>
        <p:nvSpPr>
          <p:cNvPr id="99" name="Google Shape;99;p1"/>
          <p:cNvSpPr txBox="1"/>
          <p:nvPr/>
        </p:nvSpPr>
        <p:spPr>
          <a:xfrm>
            <a:off x="2472904" y="3717986"/>
            <a:ext cx="7246189" cy="1077178"/>
          </a:xfrm>
          <a:prstGeom prst="rect">
            <a:avLst/>
          </a:prstGeom>
          <a:noFill/>
          <a:ln>
            <a:noFill/>
          </a:ln>
        </p:spPr>
        <p:txBody>
          <a:bodyPr spcFirstLastPara="1" wrap="square" lIns="91425" tIns="45700" rIns="91425" bIns="45700" anchor="t" anchorCtr="0">
            <a:spAutoFit/>
          </a:bodyPr>
          <a:lstStyle/>
          <a:p>
            <a:pPr lvl="0" algn="ctr">
              <a:buSzPts val="1800"/>
            </a:pPr>
            <a:r>
              <a:rPr lang="en-IN" sz="3200" b="1" dirty="0"/>
              <a:t>ENERGY CONSUMPTION ANALYSIS </a:t>
            </a:r>
            <a:r>
              <a:rPr lang="en-IN" sz="3200" b="1" dirty="0">
                <a:solidFill>
                  <a:schemeClr val="dk1"/>
                </a:solidFill>
                <a:latin typeface="Times New Roman" panose="02020603050405020304" pitchFamily="18" charset="0"/>
                <a:ea typeface="Calibri"/>
                <a:cs typeface="Times New Roman" panose="02020603050405020304" pitchFamily="18" charset="0"/>
                <a:sym typeface="Calibri"/>
              </a:rPr>
              <a:t> </a:t>
            </a:r>
          </a:p>
          <a:p>
            <a:pPr marL="0" marR="0" lvl="0" indent="0" algn="ctr" rtl="0">
              <a:lnSpc>
                <a:spcPct val="100000"/>
              </a:lnSpc>
              <a:spcBef>
                <a:spcPts val="0"/>
              </a:spcBef>
              <a:spcAft>
                <a:spcPts val="0"/>
              </a:spcAft>
              <a:buClr>
                <a:srgbClr val="000000"/>
              </a:buClr>
              <a:buSzPts val="1800"/>
              <a:buFont typeface="Arial"/>
              <a:buNone/>
            </a:pPr>
            <a:r>
              <a:rPr lang="en-IN" sz="32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U</a:t>
            </a:r>
            <a:r>
              <a:rPr lang="en-IN" sz="3200" b="1" dirty="0">
                <a:solidFill>
                  <a:schemeClr val="dk1"/>
                </a:solidFill>
                <a:latin typeface="Times New Roman" panose="02020603050405020304" pitchFamily="18" charset="0"/>
                <a:ea typeface="Calibri"/>
                <a:cs typeface="Times New Roman" panose="02020603050405020304" pitchFamily="18" charset="0"/>
                <a:sym typeface="Calibri"/>
              </a:rPr>
              <a:t>SING  </a:t>
            </a:r>
            <a:r>
              <a:rPr lang="en-IN" sz="3200" b="1" dirty="0">
                <a:solidFill>
                  <a:schemeClr val="accent1"/>
                </a:solidFill>
                <a:latin typeface="Times New Roman" panose="02020603050405020304" pitchFamily="18" charset="0"/>
                <a:ea typeface="Calibri"/>
                <a:cs typeface="Times New Roman" panose="02020603050405020304" pitchFamily="18" charset="0"/>
                <a:sym typeface="Calibri"/>
              </a:rPr>
              <a:t>MYSQL</a:t>
            </a:r>
            <a:endParaRPr sz="3200" b="1" i="0" u="none" strike="noStrike" cap="none" dirty="0">
              <a:solidFill>
                <a:schemeClr val="accent1"/>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4E6BB1E1-D7A3-CC3F-6BAE-D6EB13337E2F}"/>
              </a:ext>
            </a:extLst>
          </p:cNvPr>
          <p:cNvSpPr txBox="1"/>
          <p:nvPr/>
        </p:nvSpPr>
        <p:spPr>
          <a:xfrm>
            <a:off x="8625526" y="5263577"/>
            <a:ext cx="2903456" cy="584775"/>
          </a:xfrm>
          <a:prstGeom prst="rect">
            <a:avLst/>
          </a:prstGeom>
          <a:noFill/>
        </p:spPr>
        <p:txBody>
          <a:bodyPr wrap="square" rtlCol="0">
            <a:spAutoFit/>
          </a:bodyPr>
          <a:lstStyle/>
          <a:p>
            <a:r>
              <a:rPr lang="en-US" sz="1600" b="1" dirty="0">
                <a:solidFill>
                  <a:srgbClr val="FF0000"/>
                </a:solidFill>
                <a:latin typeface="Times New Roman" panose="02020603050405020304" pitchFamily="18" charset="0"/>
                <a:cs typeface="Times New Roman" panose="02020603050405020304" pitchFamily="18" charset="0"/>
              </a:rPr>
              <a:t>Presented By </a:t>
            </a:r>
            <a:r>
              <a:rPr lang="en-US" b="1" dirty="0">
                <a:solidFill>
                  <a:srgbClr val="FF0000"/>
                </a:solidFill>
              </a:rPr>
              <a:t>:</a:t>
            </a:r>
            <a:r>
              <a:rPr lang="en-US" dirty="0">
                <a:solidFill>
                  <a:srgbClr val="FF0000"/>
                </a:solidFill>
              </a:rPr>
              <a:t> </a:t>
            </a:r>
            <a:r>
              <a:rPr lang="en-US" dirty="0">
                <a:solidFill>
                  <a:schemeClr val="tx1"/>
                </a:solidFill>
              </a:rPr>
              <a:t>Akhila </a:t>
            </a:r>
            <a:r>
              <a:rPr lang="en-US" dirty="0" err="1">
                <a:solidFill>
                  <a:schemeClr val="tx1"/>
                </a:solidFill>
              </a:rPr>
              <a:t>Pagidi</a:t>
            </a:r>
            <a:r>
              <a:rPr lang="en-US" dirty="0">
                <a:solidFill>
                  <a:schemeClr val="tx1"/>
                </a:solidFill>
              </a:rPr>
              <a:t>    </a:t>
            </a:r>
            <a:r>
              <a:rPr lang="en-US" sz="1600" b="1" dirty="0">
                <a:solidFill>
                  <a:srgbClr val="FF0000"/>
                </a:solidFill>
                <a:latin typeface="Times New Roman" panose="02020603050405020304" pitchFamily="18" charset="0"/>
                <a:cs typeface="Times New Roman" panose="02020603050405020304" pitchFamily="18" charset="0"/>
              </a:rPr>
              <a:t>Batch No :  </a:t>
            </a:r>
            <a:r>
              <a:rPr lang="en-US" sz="1600" dirty="0">
                <a:solidFill>
                  <a:schemeClr val="tx1"/>
                </a:solidFill>
                <a:latin typeface="Times New Roman" panose="02020603050405020304" pitchFamily="18" charset="0"/>
                <a:cs typeface="Times New Roman" panose="02020603050405020304" pitchFamily="18" charset="0"/>
              </a:rPr>
              <a:t>543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584462" y="1385741"/>
            <a:ext cx="11010508" cy="4893607"/>
          </a:xfrm>
          <a:prstGeom prst="rect">
            <a:avLst/>
          </a:prstGeom>
          <a:noFill/>
          <a:ln>
            <a:noFill/>
          </a:ln>
        </p:spPr>
        <p:txBody>
          <a:bodyPr spcFirstLastPara="1" wrap="square" lIns="91425" tIns="45700" rIns="91425" bIns="45700" anchor="t" anchorCtr="0">
            <a:spAutoFit/>
          </a:bodyPr>
          <a:lstStyle/>
          <a:p>
            <a:pPr>
              <a:lnSpc>
                <a:spcPct val="150000"/>
              </a:lnSpc>
            </a:pPr>
            <a:r>
              <a:rPr lang="en-US" sz="2400" b="1" spc="-1" dirty="0" err="1">
                <a:latin typeface="Times New Roman"/>
                <a:ea typeface="Calibri"/>
              </a:rPr>
              <a:t>Background:</a:t>
            </a:r>
            <a:r>
              <a:rPr lang="en-US" sz="2400" spc="-1" dirty="0" err="1">
                <a:latin typeface="Times New Roman"/>
                <a:ea typeface="Calibri"/>
              </a:rPr>
              <a:t>I</a:t>
            </a:r>
            <a:r>
              <a:rPr lang="en-US" sz="2400" spc="-1" dirty="0">
                <a:latin typeface="Times New Roman"/>
                <a:ea typeface="Calibri"/>
              </a:rPr>
              <a:t> did my Bachelor’s in Electronics and communication Engineering from Rajiv Gandhi University of Knowledge Technologies. </a:t>
            </a:r>
            <a:endParaRPr lang="en-IN" sz="2400" spc="-1" dirty="0"/>
          </a:p>
          <a:p>
            <a:pPr>
              <a:lnSpc>
                <a:spcPct val="150000"/>
              </a:lnSpc>
            </a:pPr>
            <a:r>
              <a:rPr lang="en-US" sz="2400" b="1" spc="-1" dirty="0">
                <a:latin typeface="Times New Roman"/>
                <a:ea typeface="Calibri"/>
              </a:rPr>
              <a:t>Why do you want to learn </a:t>
            </a:r>
            <a:r>
              <a:rPr lang="en-US" sz="2400" b="1" spc="-1" dirty="0" err="1">
                <a:latin typeface="Times New Roman"/>
                <a:ea typeface="Calibri"/>
              </a:rPr>
              <a:t>Datascience</a:t>
            </a:r>
            <a:r>
              <a:rPr lang="en-US" sz="2400" b="1" spc="-1" dirty="0">
                <a:latin typeface="Times New Roman"/>
                <a:ea typeface="Calibri"/>
              </a:rPr>
              <a:t>?:</a:t>
            </a:r>
            <a:r>
              <a:rPr lang="en-US" sz="2400" spc="-1" dirty="0">
                <a:latin typeface="Times New Roman"/>
                <a:ea typeface="Calibri"/>
              </a:rPr>
              <a:t>Taking information and turning it into a real answer or a decision that helps businesses is what I take interest in, and that paved the way for learning </a:t>
            </a:r>
            <a:r>
              <a:rPr lang="en-US" sz="2400" spc="-1" dirty="0" err="1">
                <a:latin typeface="Times New Roman"/>
                <a:ea typeface="Calibri"/>
              </a:rPr>
              <a:t>Datascience</a:t>
            </a:r>
            <a:r>
              <a:rPr lang="en-US" sz="2400" spc="-1" dirty="0">
                <a:latin typeface="Times New Roman"/>
                <a:ea typeface="Calibri"/>
              </a:rPr>
              <a:t>.</a:t>
            </a:r>
            <a:endParaRPr lang="en-IN" sz="2400" spc="-1" dirty="0"/>
          </a:p>
          <a:p>
            <a:pPr>
              <a:lnSpc>
                <a:spcPct val="150000"/>
              </a:lnSpc>
            </a:pPr>
            <a:r>
              <a:rPr lang="en-US" sz="2400" b="1" spc="-1" dirty="0">
                <a:latin typeface="Times New Roman"/>
                <a:ea typeface="Calibri"/>
              </a:rPr>
              <a:t>Profile URLs:</a:t>
            </a:r>
            <a:endParaRPr lang="en-IN" sz="2400" spc="-1" dirty="0"/>
          </a:p>
          <a:p>
            <a:pPr>
              <a:lnSpc>
                <a:spcPct val="150000"/>
              </a:lnSpc>
            </a:pPr>
            <a:r>
              <a:rPr lang="en-US" sz="2400" b="1" spc="-1" dirty="0">
                <a:latin typeface="Times New Roman"/>
                <a:ea typeface="Calibri"/>
              </a:rPr>
              <a:t>	</a:t>
            </a:r>
            <a:r>
              <a:rPr lang="en-US" sz="2400" b="1" spc="-1" dirty="0" err="1">
                <a:latin typeface="Times New Roman"/>
                <a:ea typeface="Calibri"/>
              </a:rPr>
              <a:t>Linkedin:</a:t>
            </a:r>
            <a:r>
              <a:rPr lang="en-US" sz="2400" spc="-1" dirty="0" err="1">
                <a:latin typeface="Times New Roman"/>
                <a:ea typeface="Calibri"/>
                <a:hlinkClick r:id="rId3"/>
              </a:rPr>
              <a:t>www.linkedin.com</a:t>
            </a:r>
            <a:r>
              <a:rPr lang="en-US" sz="2400" spc="-1" dirty="0">
                <a:latin typeface="Times New Roman"/>
                <a:ea typeface="Calibri"/>
                <a:hlinkClick r:id="rId3"/>
              </a:rPr>
              <a:t>/in/pagidi-akhila-077505305</a:t>
            </a:r>
            <a:endParaRPr lang="en-IN" sz="2400" spc="-1" dirty="0"/>
          </a:p>
          <a:p>
            <a:pPr>
              <a:lnSpc>
                <a:spcPct val="150000"/>
              </a:lnSpc>
            </a:pPr>
            <a:r>
              <a:rPr lang="en-US" sz="2400" spc="-1" dirty="0">
                <a:latin typeface="Times New Roman"/>
                <a:ea typeface="Calibri"/>
              </a:rPr>
              <a:t>	</a:t>
            </a:r>
            <a:r>
              <a:rPr lang="en-US" sz="2400" b="1" spc="-1" dirty="0" err="1">
                <a:latin typeface="Times New Roman"/>
                <a:ea typeface="Calibri"/>
              </a:rPr>
              <a:t>Github:</a:t>
            </a:r>
            <a:r>
              <a:rPr lang="en-US" sz="2400" spc="-1" dirty="0" err="1">
                <a:latin typeface="Times New Roman"/>
                <a:ea typeface="Calibri"/>
              </a:rPr>
              <a:t>https</a:t>
            </a:r>
            <a:r>
              <a:rPr lang="en-US" sz="2400" spc="-1" dirty="0">
                <a:latin typeface="Times New Roman"/>
                <a:ea typeface="Calibri"/>
              </a:rPr>
              <a:t>://github.com/</a:t>
            </a:r>
            <a:r>
              <a:rPr lang="en-US" sz="2400" spc="-1" dirty="0" err="1">
                <a:latin typeface="Times New Roman"/>
                <a:ea typeface="Calibri"/>
              </a:rPr>
              <a:t>akhilaPagidi</a:t>
            </a:r>
            <a:endParaRPr lang="en-IN" sz="2400" spc="-1" dirty="0"/>
          </a:p>
          <a:p>
            <a:pPr marL="285750" lvl="0" indent="-323850">
              <a:buClr>
                <a:schemeClr val="dk1"/>
              </a:buClr>
              <a:buSzPts val="2400"/>
              <a:buFont typeface="Arial"/>
              <a:buChar char="•"/>
            </a:pPr>
            <a:endParaRPr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365823" y="530080"/>
            <a:ext cx="6099600" cy="1077178"/>
          </a:xfrm>
          <a:prstGeom prst="rect">
            <a:avLst/>
          </a:prstGeom>
          <a:noFill/>
          <a:ln>
            <a:noFill/>
          </a:ln>
        </p:spPr>
        <p:txBody>
          <a:bodyPr spcFirstLastPara="1" wrap="square" lIns="91425" tIns="45700" rIns="91425" bIns="45700" anchor="t" anchorCtr="0">
            <a:spAutoFit/>
          </a:bodyPr>
          <a:lstStyle/>
          <a:p>
            <a:pPr>
              <a:lnSpc>
                <a:spcPct val="80000"/>
              </a:lnSpc>
              <a:buClr>
                <a:srgbClr val="FF0000"/>
              </a:buClr>
              <a:buSzPts val="3200"/>
            </a:pPr>
            <a:r>
              <a:rPr lang="en-IN" sz="3200" b="0" i="0" u="none" strike="noStrike" cap="none" dirty="0">
                <a:solidFill>
                  <a:srgbClr val="FF0000"/>
                </a:solidFill>
                <a:latin typeface="Lato Black"/>
                <a:ea typeface="Lato Black"/>
                <a:cs typeface="Lato Black"/>
                <a:sym typeface="Lato Black"/>
              </a:rPr>
              <a:t>  </a:t>
            </a:r>
            <a:r>
              <a:rPr lang="en-IN" sz="4400" spc="-1" dirty="0">
                <a:solidFill>
                  <a:srgbClr val="FF0000"/>
                </a:solidFill>
                <a:latin typeface="Calibri"/>
                <a:ea typeface="Calibri"/>
              </a:rPr>
              <a:t>About me</a:t>
            </a:r>
            <a:endParaRPr lang="en-IN" sz="4400" spc="-1" dirty="0"/>
          </a:p>
          <a:p>
            <a:pPr marL="0" marR="0" lvl="0" indent="0" algn="l" rtl="0">
              <a:lnSpc>
                <a:spcPct val="80000"/>
              </a:lnSpc>
              <a:spcBef>
                <a:spcPts val="0"/>
              </a:spcBef>
              <a:spcAft>
                <a:spcPts val="0"/>
              </a:spcAft>
              <a:buClr>
                <a:srgbClr val="FF0000"/>
              </a:buClr>
              <a:buSzPts val="3200"/>
              <a:buFont typeface="Lato Black"/>
              <a:buNone/>
            </a:pPr>
            <a:endParaRPr sz="3600" b="1" i="0" u="none" strike="noStrike" cap="none" dirty="0">
              <a:solidFill>
                <a:schemeClr val="tx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339365"/>
            <a:ext cx="10515600" cy="1004453"/>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US" b="1" dirty="0">
                <a:solidFill>
                  <a:srgbClr val="FF0000"/>
                </a:solidFill>
              </a:rPr>
              <a:t>   </a:t>
            </a:r>
            <a:r>
              <a:rPr lang="en-IN" spc="-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343818"/>
            <a:ext cx="10515600" cy="4830739"/>
          </a:xfrm>
          <a:prstGeom prst="rect">
            <a:avLst/>
          </a:prstGeom>
          <a:noFill/>
          <a:ln>
            <a:noFill/>
          </a:ln>
        </p:spPr>
        <p:txBody>
          <a:bodyPr spcFirstLastPara="1" wrap="square" lIns="91425" tIns="45700" rIns="91425" bIns="45700" anchor="t" anchorCtr="0">
            <a:normAutofit lnSpcReduction="10000"/>
          </a:bodyPr>
          <a:lstStyle/>
          <a:p>
            <a:pPr marL="25400" lvl="0" indent="0">
              <a:buSzPts val="2400"/>
              <a:buNone/>
            </a:pPr>
            <a:r>
              <a:rPr lang="en-IN" dirty="0">
                <a:latin typeface="Times New Roman" panose="02020603050405020304" pitchFamily="18" charset="0"/>
                <a:cs typeface="Times New Roman" panose="02020603050405020304" pitchFamily="18" charset="0"/>
              </a:rPr>
              <a:t>✓ Business Problem</a:t>
            </a:r>
          </a:p>
          <a:p>
            <a:pPr marL="25400" indent="0">
              <a:buSzPts val="2400"/>
              <a:buNone/>
            </a:pPr>
            <a:r>
              <a:rPr lang="en-IN" dirty="0">
                <a:latin typeface="Times New Roman" panose="02020603050405020304" pitchFamily="18" charset="0"/>
                <a:cs typeface="Times New Roman" panose="02020603050405020304" pitchFamily="18" charset="0"/>
              </a:rPr>
              <a:t>✓ Business Statement</a:t>
            </a:r>
          </a:p>
          <a:p>
            <a:pPr marL="25400" lvl="0" indent="0">
              <a:buSzPts val="2400"/>
              <a:buNone/>
            </a:pPr>
            <a:r>
              <a:rPr lang="en-IN" dirty="0">
                <a:latin typeface="Times New Roman" panose="02020603050405020304" pitchFamily="18" charset="0"/>
                <a:cs typeface="Times New Roman" panose="02020603050405020304" pitchFamily="18" charset="0"/>
              </a:rPr>
              <a:t>✓ Introduction</a:t>
            </a:r>
          </a:p>
          <a:p>
            <a:pPr marL="25400" lvl="0" indent="0">
              <a:buSzPts val="2400"/>
              <a:buNone/>
            </a:pPr>
            <a:r>
              <a:rPr lang="en-IN" dirty="0">
                <a:latin typeface="Times New Roman" panose="02020603050405020304" pitchFamily="18" charset="0"/>
                <a:cs typeface="Times New Roman" panose="02020603050405020304" pitchFamily="18" charset="0"/>
              </a:rPr>
              <a:t>✓ Data Description </a:t>
            </a:r>
          </a:p>
          <a:p>
            <a:pPr marL="25400" indent="0">
              <a:buSzPts val="2400"/>
              <a:buNone/>
            </a:pPr>
            <a:r>
              <a:rPr lang="en-IN"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ER diagram</a:t>
            </a:r>
          </a:p>
          <a:p>
            <a:pPr marL="25400" indent="0">
              <a:buSzPts val="2400"/>
              <a:buNone/>
            </a:pPr>
            <a:r>
              <a:rPr lang="en-IN" sz="2000" dirty="0">
                <a:latin typeface="Times New Roman" panose="02020603050405020304" pitchFamily="18" charset="0"/>
                <a:cs typeface="Times New Roman" panose="02020603050405020304" pitchFamily="18" charset="0"/>
              </a:rPr>
              <a:t>           ✓ Cardinalities</a:t>
            </a:r>
          </a:p>
          <a:p>
            <a:pPr marL="25400" lvl="0" indent="0">
              <a:buSzPts val="2400"/>
              <a:buNone/>
            </a:pPr>
            <a:r>
              <a:rPr lang="en-IN" dirty="0">
                <a:latin typeface="Times New Roman" panose="02020603050405020304" pitchFamily="18" charset="0"/>
                <a:cs typeface="Times New Roman" panose="02020603050405020304" pitchFamily="18" charset="0"/>
              </a:rPr>
              <a:t>✓ Key Analysis Questions and insights</a:t>
            </a:r>
          </a:p>
          <a:p>
            <a:pPr marL="25400" indent="0">
              <a:buSzPts val="2400"/>
              <a:buNone/>
            </a:pPr>
            <a:r>
              <a:rPr lang="en-IN" dirty="0">
                <a:latin typeface="Times New Roman" panose="02020603050405020304" pitchFamily="18" charset="0"/>
                <a:cs typeface="Times New Roman" panose="02020603050405020304" pitchFamily="18" charset="0"/>
              </a:rPr>
              <a:t>✓ Conclusion</a:t>
            </a:r>
          </a:p>
          <a:p>
            <a:pPr marL="25400" indent="0">
              <a:buSzPts val="2400"/>
              <a:buNone/>
            </a:pPr>
            <a:r>
              <a:rPr lang="en-IN" dirty="0">
                <a:latin typeface="Times New Roman" panose="02020603050405020304" pitchFamily="18" charset="0"/>
                <a:cs typeface="Times New Roman" panose="02020603050405020304" pitchFamily="18" charset="0"/>
              </a:rPr>
              <a:t>✓ Recommendations</a:t>
            </a:r>
          </a:p>
          <a:p>
            <a:pPr marL="25400" indent="0">
              <a:buSzPts val="2400"/>
              <a:buNone/>
            </a:pPr>
            <a:r>
              <a:rPr lang="en-IN" dirty="0">
                <a:latin typeface="Times New Roman" panose="02020603050405020304" pitchFamily="18" charset="0"/>
                <a:cs typeface="Times New Roman" panose="02020603050405020304" pitchFamily="18" charset="0"/>
              </a:rPr>
              <a:t>✓ Experiences and challenges while working</a:t>
            </a:r>
          </a:p>
          <a:p>
            <a:pPr marL="25400" lvl="0" indent="0">
              <a:buSzPts val="24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5D02A7-C947-24DD-D5D3-D30C8AA33CDB}"/>
              </a:ext>
            </a:extLst>
          </p:cNvPr>
          <p:cNvSpPr txBox="1"/>
          <p:nvPr/>
        </p:nvSpPr>
        <p:spPr>
          <a:xfrm>
            <a:off x="386500" y="1470582"/>
            <a:ext cx="10982227" cy="4339650"/>
          </a:xfrm>
          <a:prstGeom prst="rect">
            <a:avLst/>
          </a:prstGeom>
          <a:noFill/>
        </p:spPr>
        <p:txBody>
          <a:bodyPr wrap="square" rtlCol="0">
            <a:spAutoFit/>
          </a:bodyPr>
          <a:lstStyle/>
          <a:p>
            <a:pPr>
              <a:lnSpc>
                <a:spcPct val="150000"/>
              </a:lnSpc>
            </a:pPr>
            <a:r>
              <a:rPr lang="en-IN" sz="2400" dirty="0">
                <a:latin typeface="Times New Roman" panose="02020603050405020304" pitchFamily="18" charset="0"/>
                <a:cs typeface="Times New Roman" panose="02020603050405020304" pitchFamily="18" charset="0"/>
              </a:rPr>
              <a:t>Energy, economic, population, and emission data is stored across multiple tables, countries, years, and energy types, making it difficult to understand the overall patterns directly from the raw data. The challenge is to combine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this data efficiently to compare countries, identify trends, and understand the relationship between energy consumption, production, GDP, population, and emissions.</a:t>
            </a:r>
          </a:p>
          <a:p>
            <a:endParaRPr lang="en-IN" sz="2400" dirty="0"/>
          </a:p>
          <a:p>
            <a:pPr marL="342900" indent="-342900">
              <a:buFont typeface="Arial" panose="020B0604020202020204" pitchFamily="34" charset="0"/>
              <a:buChar char="•"/>
            </a:pPr>
            <a:endParaRPr lang="en-IN" sz="2400" dirty="0"/>
          </a:p>
          <a:p>
            <a:pPr marL="342900" lvl="0" indent="-342900">
              <a:buFont typeface="Arial" panose="020B0604020202020204" pitchFamily="34" charset="0"/>
              <a:buChar char="•"/>
            </a:pPr>
            <a:endParaRPr lang="en-IN" sz="2400" dirty="0"/>
          </a:p>
          <a:p>
            <a:pPr lvl="0"/>
            <a:endParaRPr lang="en-IN" sz="2400" dirty="0"/>
          </a:p>
        </p:txBody>
      </p:sp>
      <p:sp>
        <p:nvSpPr>
          <p:cNvPr id="4" name="TextBox 3">
            <a:extLst>
              <a:ext uri="{FF2B5EF4-FFF2-40B4-BE49-F238E27FC236}">
                <a16:creationId xmlns:a16="http://schemas.microsoft.com/office/drawing/2014/main" id="{E34230F0-6BBC-9C79-91CE-05D244D4D053}"/>
              </a:ext>
            </a:extLst>
          </p:cNvPr>
          <p:cNvSpPr txBox="1"/>
          <p:nvPr/>
        </p:nvSpPr>
        <p:spPr>
          <a:xfrm>
            <a:off x="386500" y="460854"/>
            <a:ext cx="6096000" cy="769441"/>
          </a:xfrm>
          <a:prstGeom prst="rect">
            <a:avLst/>
          </a:prstGeom>
          <a:noFill/>
        </p:spPr>
        <p:txBody>
          <a:bodyPr wrap="square">
            <a:spAutoFit/>
          </a:bodyPr>
          <a:lstStyle/>
          <a:p>
            <a:r>
              <a:rPr lang="en-US" sz="4400" spc="-1" dirty="0">
                <a:solidFill>
                  <a:srgbClr val="FF0000"/>
                </a:solidFill>
                <a:latin typeface="Calibri"/>
                <a:ea typeface="Calibri"/>
              </a:rPr>
              <a:t>Business Problem:</a:t>
            </a:r>
            <a:endParaRPr lang="en-IN" dirty="0"/>
          </a:p>
        </p:txBody>
      </p:sp>
    </p:spTree>
    <p:extLst>
      <p:ext uri="{BB962C8B-B14F-4D97-AF65-F5344CB8AC3E}">
        <p14:creationId xmlns:p14="http://schemas.microsoft.com/office/powerpoint/2010/main" val="3903859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D729F-8108-DA53-D6A4-159F8459D3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696BC4-A49A-3F3D-442F-E480F3755051}"/>
              </a:ext>
            </a:extLst>
          </p:cNvPr>
          <p:cNvSpPr txBox="1"/>
          <p:nvPr/>
        </p:nvSpPr>
        <p:spPr>
          <a:xfrm>
            <a:off x="386500" y="1470582"/>
            <a:ext cx="10982227" cy="4893647"/>
          </a:xfrm>
          <a:prstGeom prst="rect">
            <a:avLst/>
          </a:prstGeom>
          <a:noFill/>
        </p:spPr>
        <p:txBody>
          <a:bodyPr wrap="square" rtlCol="0">
            <a:spAutoFit/>
          </a:bodyPr>
          <a:lstStyle/>
          <a:p>
            <a:pPr>
              <a:lnSpc>
                <a:spcPct val="150000"/>
              </a:lnSpc>
            </a:pPr>
            <a:r>
              <a:rPr lang="en-IN" sz="2400" dirty="0">
                <a:latin typeface="Times New Roman" panose="02020603050405020304" pitchFamily="18" charset="0"/>
                <a:cs typeface="Times New Roman" panose="02020603050405020304" pitchFamily="18" charset="0"/>
              </a:rPr>
              <a:t>The project aims to develop a SQL-based analysis of energy consumption and related factors across countries and  time. By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production, consumption, GDP, population, and emissions, the project provides some useful insights into country-level and global level energy patterns and supports data-driven understanding of the relationships between these tables.</a:t>
            </a:r>
          </a:p>
          <a:p>
            <a:pPr>
              <a:lnSpc>
                <a:spcPct val="150000"/>
              </a:lnSpc>
            </a:pPr>
            <a:endParaRPr lang="en-IN" sz="2400" dirty="0">
              <a:latin typeface="Times New Roman" panose="02020603050405020304" pitchFamily="18" charset="0"/>
              <a:cs typeface="Times New Roman" panose="02020603050405020304" pitchFamily="18" charset="0"/>
            </a:endParaRPr>
          </a:p>
          <a:p>
            <a:endParaRPr lang="en-IN" sz="2400" dirty="0"/>
          </a:p>
          <a:p>
            <a:pPr marL="342900" indent="-342900">
              <a:buFont typeface="Arial" panose="020B0604020202020204" pitchFamily="34" charset="0"/>
              <a:buChar char="•"/>
            </a:pPr>
            <a:endParaRPr lang="en-IN" sz="2400" dirty="0"/>
          </a:p>
          <a:p>
            <a:pPr marL="342900" lvl="0" indent="-342900">
              <a:buFont typeface="Arial" panose="020B0604020202020204" pitchFamily="34" charset="0"/>
              <a:buChar char="•"/>
            </a:pPr>
            <a:endParaRPr lang="en-IN" sz="2400" dirty="0"/>
          </a:p>
          <a:p>
            <a:pPr lvl="0"/>
            <a:endParaRPr lang="en-IN" sz="2400" dirty="0"/>
          </a:p>
        </p:txBody>
      </p:sp>
      <p:sp>
        <p:nvSpPr>
          <p:cNvPr id="4" name="TextBox 3">
            <a:extLst>
              <a:ext uri="{FF2B5EF4-FFF2-40B4-BE49-F238E27FC236}">
                <a16:creationId xmlns:a16="http://schemas.microsoft.com/office/drawing/2014/main" id="{664515E8-0DF6-08BC-A1C3-7F4C2ED0BC98}"/>
              </a:ext>
            </a:extLst>
          </p:cNvPr>
          <p:cNvSpPr txBox="1"/>
          <p:nvPr/>
        </p:nvSpPr>
        <p:spPr>
          <a:xfrm>
            <a:off x="386500" y="460854"/>
            <a:ext cx="6096000" cy="769441"/>
          </a:xfrm>
          <a:prstGeom prst="rect">
            <a:avLst/>
          </a:prstGeom>
          <a:noFill/>
        </p:spPr>
        <p:txBody>
          <a:bodyPr wrap="square">
            <a:spAutoFit/>
          </a:bodyPr>
          <a:lstStyle/>
          <a:p>
            <a:r>
              <a:rPr lang="en-US" sz="4400" spc="-1" dirty="0">
                <a:solidFill>
                  <a:srgbClr val="FF0000"/>
                </a:solidFill>
                <a:latin typeface="Calibri"/>
                <a:ea typeface="Calibri"/>
              </a:rPr>
              <a:t>Business Statement:</a:t>
            </a:r>
            <a:endParaRPr lang="en-IN" dirty="0"/>
          </a:p>
        </p:txBody>
      </p:sp>
    </p:spTree>
    <p:extLst>
      <p:ext uri="{BB962C8B-B14F-4D97-AF65-F5344CB8AC3E}">
        <p14:creationId xmlns:p14="http://schemas.microsoft.com/office/powerpoint/2010/main" val="1402004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D7691-496B-E146-6539-97F9F6AFB7F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F97E3C-DD3C-07AB-6CAB-E02E99520080}"/>
              </a:ext>
            </a:extLst>
          </p:cNvPr>
          <p:cNvSpPr txBox="1"/>
          <p:nvPr/>
        </p:nvSpPr>
        <p:spPr>
          <a:xfrm>
            <a:off x="386500" y="1470582"/>
            <a:ext cx="10982227" cy="4893647"/>
          </a:xfrm>
          <a:prstGeom prst="rect">
            <a:avLst/>
          </a:prstGeom>
          <a:noFill/>
        </p:spPr>
        <p:txBody>
          <a:bodyPr wrap="square" rtlCol="0">
            <a:spAutoFit/>
          </a:bodyPr>
          <a:lstStyle/>
          <a:p>
            <a:pPr>
              <a:lnSpc>
                <a:spcPct val="150000"/>
              </a:lnSpc>
            </a:pPr>
            <a:r>
              <a:rPr lang="en-IN" sz="2400" dirty="0">
                <a:latin typeface="Times New Roman" panose="02020603050405020304" pitchFamily="18" charset="0"/>
                <a:cs typeface="Times New Roman" panose="02020603050405020304" pitchFamily="18" charset="0"/>
              </a:rPr>
              <a:t>The Energy Consumption Analysis project focuses on analysing energy production, energy consumption, GDP, population, and emissions across different countries and years. The project uses multiple related tables to organize the data and SQL queries to analyse different aspects of energy and environmental trends. It helps transform raw data into meaningful information through comparisons and trends.</a:t>
            </a:r>
          </a:p>
          <a:p>
            <a:pPr algn="just">
              <a:lnSpc>
                <a:spcPct val="150000"/>
              </a:lnSpc>
            </a:pPr>
            <a:r>
              <a:rPr lang="en-IN" sz="2400" dirty="0">
                <a:latin typeface="Times New Roman" panose="02020603050405020304" pitchFamily="18" charset="0"/>
                <a:cs typeface="Times New Roman" panose="02020603050405020304" pitchFamily="18" charset="0"/>
              </a:rPr>
              <a:t>.</a:t>
            </a:r>
          </a:p>
          <a:p>
            <a:endParaRPr lang="en-IN" sz="2400" dirty="0"/>
          </a:p>
          <a:p>
            <a:pPr marL="342900" indent="-342900">
              <a:buFont typeface="Arial" panose="020B0604020202020204" pitchFamily="34" charset="0"/>
              <a:buChar char="•"/>
            </a:pPr>
            <a:endParaRPr lang="en-IN" sz="2400" dirty="0"/>
          </a:p>
          <a:p>
            <a:pPr marL="342900" lvl="0" indent="-342900">
              <a:buFont typeface="Arial" panose="020B0604020202020204" pitchFamily="34" charset="0"/>
              <a:buChar char="•"/>
            </a:pPr>
            <a:endParaRPr lang="en-IN" sz="2400" dirty="0"/>
          </a:p>
          <a:p>
            <a:pPr lvl="0"/>
            <a:endParaRPr lang="en-IN" sz="2400" dirty="0"/>
          </a:p>
        </p:txBody>
      </p:sp>
      <p:sp>
        <p:nvSpPr>
          <p:cNvPr id="4" name="TextBox 3">
            <a:extLst>
              <a:ext uri="{FF2B5EF4-FFF2-40B4-BE49-F238E27FC236}">
                <a16:creationId xmlns:a16="http://schemas.microsoft.com/office/drawing/2014/main" id="{792DC653-811E-163D-1420-93C64ED27E6B}"/>
              </a:ext>
            </a:extLst>
          </p:cNvPr>
          <p:cNvSpPr txBox="1"/>
          <p:nvPr/>
        </p:nvSpPr>
        <p:spPr>
          <a:xfrm>
            <a:off x="386500" y="460854"/>
            <a:ext cx="6096000" cy="769441"/>
          </a:xfrm>
          <a:prstGeom prst="rect">
            <a:avLst/>
          </a:prstGeom>
          <a:noFill/>
        </p:spPr>
        <p:txBody>
          <a:bodyPr wrap="square">
            <a:spAutoFit/>
          </a:bodyPr>
          <a:lstStyle/>
          <a:p>
            <a:r>
              <a:rPr lang="en-US" sz="4400" spc="-1" dirty="0">
                <a:solidFill>
                  <a:srgbClr val="FF0000"/>
                </a:solidFill>
                <a:latin typeface="Calibri"/>
                <a:ea typeface="Calibri"/>
              </a:rPr>
              <a:t>Introduction:</a:t>
            </a:r>
            <a:endParaRPr lang="en-IN" dirty="0"/>
          </a:p>
        </p:txBody>
      </p:sp>
    </p:spTree>
    <p:extLst>
      <p:ext uri="{BB962C8B-B14F-4D97-AF65-F5344CB8AC3E}">
        <p14:creationId xmlns:p14="http://schemas.microsoft.com/office/powerpoint/2010/main" val="3137746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9D9731-A6F5-5428-309B-56328FCB9FD0}"/>
              </a:ext>
            </a:extLst>
          </p:cNvPr>
          <p:cNvSpPr txBox="1"/>
          <p:nvPr/>
        </p:nvSpPr>
        <p:spPr>
          <a:xfrm>
            <a:off x="78658" y="555523"/>
            <a:ext cx="8729221" cy="646331"/>
          </a:xfrm>
          <a:prstGeom prst="rect">
            <a:avLst/>
          </a:prstGeom>
          <a:noFill/>
        </p:spPr>
        <p:txBody>
          <a:bodyPr wrap="square" rtlCol="0">
            <a:spAutoFit/>
          </a:bodyPr>
          <a:lstStyle/>
          <a:p>
            <a:r>
              <a:rPr lang="en-IN" sz="3600" b="1" dirty="0"/>
              <a:t>  </a:t>
            </a:r>
            <a:r>
              <a:rPr lang="en-IN" sz="1800" b="1" dirty="0">
                <a:solidFill>
                  <a:srgbClr val="FF0000"/>
                </a:solidFill>
              </a:rPr>
              <a:t>Entity Relationship </a:t>
            </a:r>
            <a:r>
              <a:rPr lang="en-IN" sz="2400" b="1" dirty="0">
                <a:solidFill>
                  <a:srgbClr val="FF0000"/>
                </a:solidFill>
              </a:rPr>
              <a:t>(</a:t>
            </a:r>
            <a:r>
              <a:rPr lang="en-IN" sz="1800" b="1" dirty="0">
                <a:solidFill>
                  <a:srgbClr val="FF0000"/>
                </a:solidFill>
              </a:rPr>
              <a:t>ER Diagram) :</a:t>
            </a:r>
          </a:p>
        </p:txBody>
      </p:sp>
      <p:pic>
        <p:nvPicPr>
          <p:cNvPr id="4" name="Picture 3">
            <a:extLst>
              <a:ext uri="{FF2B5EF4-FFF2-40B4-BE49-F238E27FC236}">
                <a16:creationId xmlns:a16="http://schemas.microsoft.com/office/drawing/2014/main" id="{6971E2A4-8098-4902-C6F7-E474E16C6F31}"/>
              </a:ext>
            </a:extLst>
          </p:cNvPr>
          <p:cNvPicPr>
            <a:picLocks noChangeAspect="1"/>
          </p:cNvPicPr>
          <p:nvPr/>
        </p:nvPicPr>
        <p:blipFill>
          <a:blip r:embed="rId2"/>
          <a:srcRect l="3272" t="12173" r="3849" b="8100"/>
          <a:stretch>
            <a:fillRect/>
          </a:stretch>
        </p:blipFill>
        <p:spPr>
          <a:xfrm>
            <a:off x="943897" y="1356852"/>
            <a:ext cx="9261987" cy="4945625"/>
          </a:xfrm>
          <a:prstGeom prst="rect">
            <a:avLst/>
          </a:prstGeom>
        </p:spPr>
      </p:pic>
      <p:sp>
        <p:nvSpPr>
          <p:cNvPr id="5" name="TextBox 4">
            <a:extLst>
              <a:ext uri="{FF2B5EF4-FFF2-40B4-BE49-F238E27FC236}">
                <a16:creationId xmlns:a16="http://schemas.microsoft.com/office/drawing/2014/main" id="{75A76A19-96C2-CBC8-6D5B-C4AFF5600572}"/>
              </a:ext>
            </a:extLst>
          </p:cNvPr>
          <p:cNvSpPr txBox="1"/>
          <p:nvPr/>
        </p:nvSpPr>
        <p:spPr>
          <a:xfrm>
            <a:off x="314429" y="77359"/>
            <a:ext cx="11038787" cy="553998"/>
          </a:xfrm>
          <a:prstGeom prst="rect">
            <a:avLst/>
          </a:prstGeom>
          <a:noFill/>
        </p:spPr>
        <p:txBody>
          <a:bodyPr wrap="square" rtlCol="0">
            <a:spAutoFit/>
          </a:bodyPr>
          <a:lstStyle/>
          <a:p>
            <a:r>
              <a:rPr lang="en-US" sz="3000" b="1" dirty="0">
                <a:solidFill>
                  <a:srgbClr val="FF0000"/>
                </a:solidFill>
                <a:latin typeface="Times New Roman" panose="02020603050405020304" pitchFamily="18" charset="0"/>
                <a:cs typeface="Times New Roman" panose="02020603050405020304" pitchFamily="18" charset="0"/>
              </a:rPr>
              <a:t>Data Description: </a:t>
            </a:r>
            <a:endParaRPr lang="en-IN" sz="3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83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02ABC7-1BC6-76DB-5687-8404FA5D42A8}"/>
              </a:ext>
            </a:extLst>
          </p:cNvPr>
          <p:cNvPicPr>
            <a:picLocks noChangeAspect="1"/>
          </p:cNvPicPr>
          <p:nvPr/>
        </p:nvPicPr>
        <p:blipFill>
          <a:blip r:embed="rId2"/>
          <a:srcRect t="6117" b="49455"/>
          <a:stretch>
            <a:fillRect/>
          </a:stretch>
        </p:blipFill>
        <p:spPr>
          <a:xfrm>
            <a:off x="1150371" y="1673942"/>
            <a:ext cx="9016181" cy="3510116"/>
          </a:xfrm>
          <a:prstGeom prst="rect">
            <a:avLst/>
          </a:prstGeom>
        </p:spPr>
      </p:pic>
      <p:sp>
        <p:nvSpPr>
          <p:cNvPr id="7" name="TextBox 6">
            <a:extLst>
              <a:ext uri="{FF2B5EF4-FFF2-40B4-BE49-F238E27FC236}">
                <a16:creationId xmlns:a16="http://schemas.microsoft.com/office/drawing/2014/main" id="{2F31B869-D376-7CEB-B1A6-3D96507FA812}"/>
              </a:ext>
            </a:extLst>
          </p:cNvPr>
          <p:cNvSpPr txBox="1"/>
          <p:nvPr/>
        </p:nvSpPr>
        <p:spPr>
          <a:xfrm>
            <a:off x="639097" y="652583"/>
            <a:ext cx="6096000" cy="461665"/>
          </a:xfrm>
          <a:prstGeom prst="rect">
            <a:avLst/>
          </a:prstGeom>
          <a:noFill/>
        </p:spPr>
        <p:txBody>
          <a:bodyPr wrap="square">
            <a:spAutoFit/>
          </a:bodyPr>
          <a:lstStyle/>
          <a:p>
            <a:r>
              <a:rPr lang="en-IN" sz="2400" spc="-1" dirty="0">
                <a:solidFill>
                  <a:srgbClr val="FF0000"/>
                </a:solidFill>
              </a:rPr>
              <a:t>Cardinalities :</a:t>
            </a:r>
            <a:endParaRPr lang="en-IN" sz="2400" dirty="0"/>
          </a:p>
        </p:txBody>
      </p:sp>
    </p:spTree>
    <p:extLst>
      <p:ext uri="{BB962C8B-B14F-4D97-AF65-F5344CB8AC3E}">
        <p14:creationId xmlns:p14="http://schemas.microsoft.com/office/powerpoint/2010/main" val="3461566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A3FDB1-FD29-5AD4-EAEA-90E392848A70}"/>
              </a:ext>
            </a:extLst>
          </p:cNvPr>
          <p:cNvSpPr txBox="1"/>
          <p:nvPr/>
        </p:nvSpPr>
        <p:spPr>
          <a:xfrm>
            <a:off x="381583" y="1160439"/>
            <a:ext cx="11114202" cy="4832092"/>
          </a:xfrm>
          <a:prstGeom prst="rect">
            <a:avLst/>
          </a:prstGeom>
          <a:noFill/>
        </p:spPr>
        <p:txBody>
          <a:bodyPr wrap="square" rtlCol="0">
            <a:spAutoFit/>
          </a:bodyPr>
          <a:lstStyle/>
          <a:p>
            <a:pPr algn="just"/>
            <a:r>
              <a:rPr lang="en-IN" sz="2200" dirty="0">
                <a:latin typeface="Times New Roman" panose="02020603050405020304" pitchFamily="18" charset="0"/>
                <a:cs typeface="Times New Roman" panose="02020603050405020304" pitchFamily="18" charset="0"/>
              </a:rPr>
              <a:t>The Energy Consumption Analysis consists of 6 tables that store information related to countries, emissions, population, energy production, GDP, and energy consumption. Each table contains specific data and is connected to other tables through Primary Keys (PKs) and Foreign Keys (FKs).</a:t>
            </a:r>
          </a:p>
          <a:p>
            <a:pPr algn="just"/>
            <a:endParaRPr lang="en-IN"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Country</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The Country table stores country details such as country ID and country name. CID is the Primary Key (PK), while Country is a unique field used to connect the country information with other tables.</a:t>
            </a:r>
          </a:p>
          <a:p>
            <a:endParaRPr lang="en-IN"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Emission</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The Emission table stores information about emissions for different countries, energy types, and years. It contains emission and per-capita emission values and is connected to the Country table through the country field.</a:t>
            </a:r>
          </a:p>
        </p:txBody>
      </p:sp>
      <p:sp>
        <p:nvSpPr>
          <p:cNvPr id="4" name="TextBox 3">
            <a:extLst>
              <a:ext uri="{FF2B5EF4-FFF2-40B4-BE49-F238E27FC236}">
                <a16:creationId xmlns:a16="http://schemas.microsoft.com/office/drawing/2014/main" id="{C97FF53E-A637-592E-14E6-8B6549E543FF}"/>
              </a:ext>
            </a:extLst>
          </p:cNvPr>
          <p:cNvSpPr txBox="1"/>
          <p:nvPr/>
        </p:nvSpPr>
        <p:spPr>
          <a:xfrm>
            <a:off x="381583" y="634636"/>
            <a:ext cx="6096000" cy="461665"/>
          </a:xfrm>
          <a:prstGeom prst="rect">
            <a:avLst/>
          </a:prstGeom>
          <a:noFill/>
        </p:spPr>
        <p:txBody>
          <a:bodyPr wrap="square">
            <a:spAutoFit/>
          </a:bodyPr>
          <a:lstStyle/>
          <a:p>
            <a:r>
              <a:rPr lang="en-IN" sz="2400" spc="-1" dirty="0">
                <a:solidFill>
                  <a:srgbClr val="FF0000"/>
                </a:solidFill>
              </a:rPr>
              <a:t>Database Schema :</a:t>
            </a:r>
            <a:endParaRPr lang="en-IN" sz="2400" dirty="0"/>
          </a:p>
        </p:txBody>
      </p:sp>
    </p:spTree>
    <p:extLst>
      <p:ext uri="{BB962C8B-B14F-4D97-AF65-F5344CB8AC3E}">
        <p14:creationId xmlns:p14="http://schemas.microsoft.com/office/powerpoint/2010/main" val="3967329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7A2614-C30C-2A0E-B6EE-B258D15F18EE}"/>
              </a:ext>
            </a:extLst>
          </p:cNvPr>
          <p:cNvSpPr txBox="1"/>
          <p:nvPr/>
        </p:nvSpPr>
        <p:spPr>
          <a:xfrm>
            <a:off x="301355" y="370281"/>
            <a:ext cx="11246176" cy="4801314"/>
          </a:xfrm>
          <a:prstGeom prst="rect">
            <a:avLst/>
          </a:prstGeom>
          <a:noFill/>
        </p:spPr>
        <p:txBody>
          <a:bodyPr wrap="square" rtlCol="0">
            <a:spAutoFit/>
          </a:bodyPr>
          <a:lstStyle/>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Production</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The Production table stores energy production data for different countries, energy types, and years. country is connected to the Country table through a Foreign Key (FK).</a:t>
            </a:r>
          </a:p>
          <a:p>
            <a:endParaRPr lang="en-IN"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GDP</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The GDP table stores GDP values for different countries and years. It is connected to the Country table through the country field, allowing GDP data to be </a:t>
            </a:r>
            <a:r>
              <a:rPr lang="en-IN" sz="2200" dirty="0" err="1">
                <a:latin typeface="Times New Roman" panose="02020603050405020304" pitchFamily="18" charset="0"/>
                <a:cs typeface="Times New Roman" panose="02020603050405020304" pitchFamily="18" charset="0"/>
              </a:rPr>
              <a:t>analyzed</a:t>
            </a:r>
            <a:r>
              <a:rPr lang="en-IN" sz="2200" dirty="0">
                <a:latin typeface="Times New Roman" panose="02020603050405020304" pitchFamily="18" charset="0"/>
                <a:cs typeface="Times New Roman" panose="02020603050405020304" pitchFamily="18" charset="0"/>
              </a:rPr>
              <a:t> along with other country-level information.</a:t>
            </a:r>
          </a:p>
          <a:p>
            <a:endParaRPr lang="en-IN"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Consumption</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The Consumption table stores energy consumption data for different countries, energy types, and years. It is connected to the Country table through the country field and allows energy consumption to be compared with production, GDP, population, and emissions.</a:t>
            </a:r>
          </a:p>
          <a:p>
            <a:endParaRPr lang="en-IN" sz="2000" dirty="0"/>
          </a:p>
        </p:txBody>
      </p:sp>
      <p:sp>
        <p:nvSpPr>
          <p:cNvPr id="4" name="TextBox 3">
            <a:extLst>
              <a:ext uri="{FF2B5EF4-FFF2-40B4-BE49-F238E27FC236}">
                <a16:creationId xmlns:a16="http://schemas.microsoft.com/office/drawing/2014/main" id="{51C0B542-B4FE-3203-1B0D-027A75FE61C3}"/>
              </a:ext>
            </a:extLst>
          </p:cNvPr>
          <p:cNvSpPr txBox="1"/>
          <p:nvPr/>
        </p:nvSpPr>
        <p:spPr>
          <a:xfrm>
            <a:off x="301355" y="5010391"/>
            <a:ext cx="11507188" cy="1477328"/>
          </a:xfrm>
          <a:prstGeom prst="rect">
            <a:avLst/>
          </a:prstGeom>
          <a:noFill/>
        </p:spPr>
        <p:txBody>
          <a:bodyPr wrap="square">
            <a:spAutoFit/>
          </a:bodyPr>
          <a:lstStyle/>
          <a:p>
            <a:pPr marL="342900" indent="-342900">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Population</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The Population table stores population data for different countries and years. It contains the population value for each country and year and is connected to the Country table through the countries field</a:t>
            </a:r>
            <a:r>
              <a:rPr lang="en-IN" sz="2400" dirty="0"/>
              <a:t>.</a:t>
            </a:r>
          </a:p>
        </p:txBody>
      </p:sp>
    </p:spTree>
    <p:extLst>
      <p:ext uri="{BB962C8B-B14F-4D97-AF65-F5344CB8AC3E}">
        <p14:creationId xmlns:p14="http://schemas.microsoft.com/office/powerpoint/2010/main" val="961369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FCB3FE-ECD7-3ECE-47B8-C52CE944CE2C}"/>
              </a:ext>
            </a:extLst>
          </p:cNvPr>
          <p:cNvSpPr txBox="1"/>
          <p:nvPr/>
        </p:nvSpPr>
        <p:spPr>
          <a:xfrm>
            <a:off x="344169" y="1114370"/>
            <a:ext cx="7609776" cy="400110"/>
          </a:xfrm>
          <a:prstGeom prst="rect">
            <a:avLst/>
          </a:prstGeom>
          <a:noFill/>
        </p:spPr>
        <p:txBody>
          <a:bodyPr wrap="none" rtlCol="0">
            <a:spAutoFit/>
          </a:bodyPr>
          <a:lstStyle/>
          <a:p>
            <a:r>
              <a:rPr lang="en-US" sz="2000" dirty="0"/>
              <a:t> </a:t>
            </a:r>
            <a:r>
              <a:rPr lang="en-US" sz="2000" dirty="0">
                <a:solidFill>
                  <a:srgbClr val="FF0000"/>
                </a:solidFill>
              </a:rPr>
              <a:t>1. What are the top 5 countries by GDP in the most recent year?</a:t>
            </a:r>
            <a:endParaRPr lang="en-IN" sz="2000" dirty="0">
              <a:solidFill>
                <a:srgbClr val="FF0000"/>
              </a:solidFill>
            </a:endParaRPr>
          </a:p>
        </p:txBody>
      </p:sp>
      <p:sp>
        <p:nvSpPr>
          <p:cNvPr id="3" name="TextBox 2">
            <a:extLst>
              <a:ext uri="{FF2B5EF4-FFF2-40B4-BE49-F238E27FC236}">
                <a16:creationId xmlns:a16="http://schemas.microsoft.com/office/drawing/2014/main" id="{DE2107F9-3348-A7FC-B927-FE0831A97E94}"/>
              </a:ext>
            </a:extLst>
          </p:cNvPr>
          <p:cNvSpPr txBox="1"/>
          <p:nvPr/>
        </p:nvSpPr>
        <p:spPr>
          <a:xfrm>
            <a:off x="753739" y="1785850"/>
            <a:ext cx="931665" cy="400110"/>
          </a:xfrm>
          <a:prstGeom prst="rect">
            <a:avLst/>
          </a:prstGeom>
          <a:noFill/>
        </p:spPr>
        <p:txBody>
          <a:bodyPr wrap="none" rtlCol="0">
            <a:spAutoFit/>
          </a:bodyPr>
          <a:lstStyle/>
          <a:p>
            <a:r>
              <a:rPr lang="en-US" sz="2000" dirty="0"/>
              <a:t>Query</a:t>
            </a:r>
            <a:r>
              <a:rPr lang="en-US" dirty="0"/>
              <a:t> </a:t>
            </a:r>
            <a:endParaRPr lang="en-IN" dirty="0"/>
          </a:p>
        </p:txBody>
      </p:sp>
      <p:sp>
        <p:nvSpPr>
          <p:cNvPr id="4" name="TextBox 3">
            <a:extLst>
              <a:ext uri="{FF2B5EF4-FFF2-40B4-BE49-F238E27FC236}">
                <a16:creationId xmlns:a16="http://schemas.microsoft.com/office/drawing/2014/main" id="{3CE22C6D-55DE-EF55-B053-027FCAB04988}"/>
              </a:ext>
            </a:extLst>
          </p:cNvPr>
          <p:cNvSpPr txBox="1"/>
          <p:nvPr/>
        </p:nvSpPr>
        <p:spPr>
          <a:xfrm>
            <a:off x="7945479" y="1755208"/>
            <a:ext cx="952505" cy="400110"/>
          </a:xfrm>
          <a:prstGeom prst="rect">
            <a:avLst/>
          </a:prstGeom>
          <a:noFill/>
        </p:spPr>
        <p:txBody>
          <a:bodyPr wrap="none" rtlCol="0">
            <a:spAutoFit/>
          </a:bodyPr>
          <a:lstStyle/>
          <a:p>
            <a:r>
              <a:rPr lang="en-US" sz="2000" dirty="0"/>
              <a:t>Output</a:t>
            </a:r>
            <a:endParaRPr lang="en-IN" sz="2000" dirty="0"/>
          </a:p>
        </p:txBody>
      </p:sp>
      <p:pic>
        <p:nvPicPr>
          <p:cNvPr id="6" name="Picture 5">
            <a:extLst>
              <a:ext uri="{FF2B5EF4-FFF2-40B4-BE49-F238E27FC236}">
                <a16:creationId xmlns:a16="http://schemas.microsoft.com/office/drawing/2014/main" id="{248C8F89-632F-BA7B-F6C7-F2E2E655C1B0}"/>
              </a:ext>
            </a:extLst>
          </p:cNvPr>
          <p:cNvPicPr>
            <a:picLocks noChangeAspect="1"/>
          </p:cNvPicPr>
          <p:nvPr/>
        </p:nvPicPr>
        <p:blipFill>
          <a:blip r:embed="rId2"/>
          <a:stretch>
            <a:fillRect/>
          </a:stretch>
        </p:blipFill>
        <p:spPr>
          <a:xfrm>
            <a:off x="868625" y="2622473"/>
            <a:ext cx="4122777" cy="1667627"/>
          </a:xfrm>
          <a:prstGeom prst="rect">
            <a:avLst/>
          </a:prstGeom>
        </p:spPr>
      </p:pic>
      <p:pic>
        <p:nvPicPr>
          <p:cNvPr id="9" name="Picture 8">
            <a:extLst>
              <a:ext uri="{FF2B5EF4-FFF2-40B4-BE49-F238E27FC236}">
                <a16:creationId xmlns:a16="http://schemas.microsoft.com/office/drawing/2014/main" id="{BBA71466-1B31-5C70-477B-8D1A71BBFD8E}"/>
              </a:ext>
            </a:extLst>
          </p:cNvPr>
          <p:cNvPicPr>
            <a:picLocks noChangeAspect="1"/>
          </p:cNvPicPr>
          <p:nvPr/>
        </p:nvPicPr>
        <p:blipFill>
          <a:blip r:embed="rId3"/>
          <a:stretch>
            <a:fillRect/>
          </a:stretch>
        </p:blipFill>
        <p:spPr>
          <a:xfrm>
            <a:off x="7531910" y="2622472"/>
            <a:ext cx="3008270" cy="1667628"/>
          </a:xfrm>
          <a:prstGeom prst="rect">
            <a:avLst/>
          </a:prstGeom>
        </p:spPr>
      </p:pic>
      <p:sp>
        <p:nvSpPr>
          <p:cNvPr id="12" name="TextBox 11">
            <a:extLst>
              <a:ext uri="{FF2B5EF4-FFF2-40B4-BE49-F238E27FC236}">
                <a16:creationId xmlns:a16="http://schemas.microsoft.com/office/drawing/2014/main" id="{E6727B8E-AADC-A4A3-40D3-BAD26766BA12}"/>
              </a:ext>
            </a:extLst>
          </p:cNvPr>
          <p:cNvSpPr txBox="1"/>
          <p:nvPr/>
        </p:nvSpPr>
        <p:spPr>
          <a:xfrm>
            <a:off x="527901" y="4458879"/>
            <a:ext cx="6096000" cy="400110"/>
          </a:xfrm>
          <a:prstGeom prst="rect">
            <a:avLst/>
          </a:prstGeom>
          <a:noFill/>
        </p:spPr>
        <p:txBody>
          <a:bodyPr wrap="square">
            <a:spAutoFit/>
          </a:bodyPr>
          <a:lstStyle/>
          <a:p>
            <a:r>
              <a:rPr lang="en-US" sz="2000" dirty="0"/>
              <a:t>Insights</a:t>
            </a:r>
            <a:r>
              <a:rPr lang="en-US" sz="1400" dirty="0"/>
              <a:t> </a:t>
            </a:r>
            <a:endParaRPr lang="en-IN" sz="1400" dirty="0"/>
          </a:p>
        </p:txBody>
      </p:sp>
      <p:sp>
        <p:nvSpPr>
          <p:cNvPr id="14" name="TextBox 13">
            <a:extLst>
              <a:ext uri="{FF2B5EF4-FFF2-40B4-BE49-F238E27FC236}">
                <a16:creationId xmlns:a16="http://schemas.microsoft.com/office/drawing/2014/main" id="{58E26861-74A5-5A3B-9454-F837294351D7}"/>
              </a:ext>
            </a:extLst>
          </p:cNvPr>
          <p:cNvSpPr txBox="1"/>
          <p:nvPr/>
        </p:nvSpPr>
        <p:spPr>
          <a:xfrm>
            <a:off x="527901" y="5126723"/>
            <a:ext cx="9330813" cy="785343"/>
          </a:xfrm>
          <a:prstGeom prst="rect">
            <a:avLst/>
          </a:prstGeom>
          <a:noFill/>
        </p:spPr>
        <p:txBody>
          <a:bodyPr wrap="square">
            <a:spAutoFit/>
          </a:bodyPr>
          <a:lstStyle/>
          <a:p>
            <a:pPr>
              <a:lnSpc>
                <a:spcPct val="150000"/>
              </a:lnSpc>
            </a:pPr>
            <a:r>
              <a:rPr lang="en-IN" sz="1600" dirty="0"/>
              <a:t>Five countries with the highest GDP in the latest available year. It gives an overview of the largest economies represented in the dataset</a:t>
            </a:r>
            <a:r>
              <a:rPr lang="en-IN" dirty="0"/>
              <a:t>.</a:t>
            </a:r>
          </a:p>
        </p:txBody>
      </p:sp>
      <p:sp>
        <p:nvSpPr>
          <p:cNvPr id="16" name="TextBox 15">
            <a:extLst>
              <a:ext uri="{FF2B5EF4-FFF2-40B4-BE49-F238E27FC236}">
                <a16:creationId xmlns:a16="http://schemas.microsoft.com/office/drawing/2014/main" id="{099E7481-DFAA-6725-BA8B-16B22A81BBC7}"/>
              </a:ext>
            </a:extLst>
          </p:cNvPr>
          <p:cNvSpPr txBox="1"/>
          <p:nvPr/>
        </p:nvSpPr>
        <p:spPr>
          <a:xfrm>
            <a:off x="344169" y="317161"/>
            <a:ext cx="6096000" cy="584775"/>
          </a:xfrm>
          <a:prstGeom prst="rect">
            <a:avLst/>
          </a:prstGeom>
          <a:noFill/>
        </p:spPr>
        <p:txBody>
          <a:bodyPr wrap="square">
            <a:spAutoFit/>
          </a:bodyPr>
          <a:lstStyle/>
          <a:p>
            <a:r>
              <a:rPr lang="en-US" sz="3200" b="1" dirty="0"/>
              <a:t>Key Analysis Questions :</a:t>
            </a:r>
            <a:endParaRPr lang="en-IN" sz="3200" b="1" dirty="0"/>
          </a:p>
        </p:txBody>
      </p:sp>
    </p:spTree>
    <p:extLst>
      <p:ext uri="{BB962C8B-B14F-4D97-AF65-F5344CB8AC3E}">
        <p14:creationId xmlns:p14="http://schemas.microsoft.com/office/powerpoint/2010/main" val="2778790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939BA5-1DAA-3F26-1983-FDDF6F0B5A94}"/>
              </a:ext>
            </a:extLst>
          </p:cNvPr>
          <p:cNvSpPr txBox="1"/>
          <p:nvPr/>
        </p:nvSpPr>
        <p:spPr>
          <a:xfrm>
            <a:off x="361158" y="489261"/>
            <a:ext cx="11067068" cy="400110"/>
          </a:xfrm>
          <a:prstGeom prst="rect">
            <a:avLst/>
          </a:prstGeom>
          <a:noFill/>
        </p:spPr>
        <p:txBody>
          <a:bodyPr wrap="square" rtlCol="0">
            <a:spAutoFit/>
          </a:bodyPr>
          <a:lstStyle/>
          <a:p>
            <a:r>
              <a:rPr lang="en-US" sz="2000" dirty="0">
                <a:solidFill>
                  <a:srgbClr val="FF0000"/>
                </a:solidFill>
              </a:rPr>
              <a:t>2.How have global emissions changed year over year?</a:t>
            </a:r>
            <a:endParaRPr lang="en-IN" sz="2000" dirty="0">
              <a:solidFill>
                <a:srgbClr val="FF0000"/>
              </a:solidFill>
            </a:endParaRPr>
          </a:p>
        </p:txBody>
      </p:sp>
      <p:sp>
        <p:nvSpPr>
          <p:cNvPr id="11" name="TextBox 10">
            <a:extLst>
              <a:ext uri="{FF2B5EF4-FFF2-40B4-BE49-F238E27FC236}">
                <a16:creationId xmlns:a16="http://schemas.microsoft.com/office/drawing/2014/main" id="{038408DB-9A69-1800-251F-955CF1376559}"/>
              </a:ext>
            </a:extLst>
          </p:cNvPr>
          <p:cNvSpPr txBox="1"/>
          <p:nvPr/>
        </p:nvSpPr>
        <p:spPr>
          <a:xfrm>
            <a:off x="1610768" y="1255793"/>
            <a:ext cx="2026763" cy="400110"/>
          </a:xfrm>
          <a:prstGeom prst="rect">
            <a:avLst/>
          </a:prstGeom>
          <a:noFill/>
        </p:spPr>
        <p:txBody>
          <a:bodyPr wrap="square" rtlCol="0">
            <a:spAutoFit/>
          </a:bodyPr>
          <a:lstStyle/>
          <a:p>
            <a:r>
              <a:rPr lang="en-US" sz="2000" dirty="0"/>
              <a:t>Query </a:t>
            </a:r>
            <a:endParaRPr lang="en-IN" sz="2000" dirty="0"/>
          </a:p>
        </p:txBody>
      </p:sp>
      <p:sp>
        <p:nvSpPr>
          <p:cNvPr id="12" name="TextBox 11">
            <a:extLst>
              <a:ext uri="{FF2B5EF4-FFF2-40B4-BE49-F238E27FC236}">
                <a16:creationId xmlns:a16="http://schemas.microsoft.com/office/drawing/2014/main" id="{17B19F91-CC64-1FA3-D984-34D7EFD073EC}"/>
              </a:ext>
            </a:extLst>
          </p:cNvPr>
          <p:cNvSpPr txBox="1"/>
          <p:nvPr/>
        </p:nvSpPr>
        <p:spPr>
          <a:xfrm>
            <a:off x="7974369" y="1255793"/>
            <a:ext cx="2026763" cy="400110"/>
          </a:xfrm>
          <a:prstGeom prst="rect">
            <a:avLst/>
          </a:prstGeom>
          <a:noFill/>
        </p:spPr>
        <p:txBody>
          <a:bodyPr wrap="square" rtlCol="0">
            <a:spAutoFit/>
          </a:bodyPr>
          <a:lstStyle/>
          <a:p>
            <a:r>
              <a:rPr lang="en-US" sz="2000" dirty="0"/>
              <a:t>Output</a:t>
            </a:r>
            <a:endParaRPr lang="en-IN" sz="2000" dirty="0"/>
          </a:p>
        </p:txBody>
      </p:sp>
      <p:sp>
        <p:nvSpPr>
          <p:cNvPr id="15" name="TextBox 14">
            <a:extLst>
              <a:ext uri="{FF2B5EF4-FFF2-40B4-BE49-F238E27FC236}">
                <a16:creationId xmlns:a16="http://schemas.microsoft.com/office/drawing/2014/main" id="{DC492CC0-40EE-31E0-F22B-159577717208}"/>
              </a:ext>
            </a:extLst>
          </p:cNvPr>
          <p:cNvSpPr txBox="1"/>
          <p:nvPr/>
        </p:nvSpPr>
        <p:spPr>
          <a:xfrm>
            <a:off x="766333" y="4751609"/>
            <a:ext cx="10314621" cy="785343"/>
          </a:xfrm>
          <a:prstGeom prst="rect">
            <a:avLst/>
          </a:prstGeom>
          <a:noFill/>
        </p:spPr>
        <p:txBody>
          <a:bodyPr wrap="square">
            <a:spAutoFit/>
          </a:bodyPr>
          <a:lstStyle/>
          <a:p>
            <a:pPr>
              <a:lnSpc>
                <a:spcPct val="150000"/>
              </a:lnSpc>
            </a:pPr>
            <a:r>
              <a:rPr lang="en-US" sz="1600" dirty="0"/>
              <a:t>This measures how total global emissions change from one year to the next using LAG(). A positive change means emissions increased, while a negative change means they decreased.</a:t>
            </a:r>
            <a:endParaRPr lang="en-IN" sz="1600" dirty="0"/>
          </a:p>
        </p:txBody>
      </p:sp>
      <p:sp>
        <p:nvSpPr>
          <p:cNvPr id="17" name="TextBox 16">
            <a:extLst>
              <a:ext uri="{FF2B5EF4-FFF2-40B4-BE49-F238E27FC236}">
                <a16:creationId xmlns:a16="http://schemas.microsoft.com/office/drawing/2014/main" id="{3EA54BE1-D165-0C07-9A37-077E89D425CF}"/>
              </a:ext>
            </a:extLst>
          </p:cNvPr>
          <p:cNvSpPr txBox="1"/>
          <p:nvPr/>
        </p:nvSpPr>
        <p:spPr>
          <a:xfrm>
            <a:off x="1610768" y="4156910"/>
            <a:ext cx="6218902" cy="400110"/>
          </a:xfrm>
          <a:prstGeom prst="rect">
            <a:avLst/>
          </a:prstGeom>
          <a:noFill/>
        </p:spPr>
        <p:txBody>
          <a:bodyPr wrap="square">
            <a:spAutoFit/>
          </a:bodyPr>
          <a:lstStyle/>
          <a:p>
            <a:r>
              <a:rPr lang="en-US" sz="2000" dirty="0"/>
              <a:t>Insights</a:t>
            </a:r>
            <a:endParaRPr lang="en-IN" sz="2000" dirty="0"/>
          </a:p>
        </p:txBody>
      </p:sp>
      <p:pic>
        <p:nvPicPr>
          <p:cNvPr id="19" name="Picture 18">
            <a:extLst>
              <a:ext uri="{FF2B5EF4-FFF2-40B4-BE49-F238E27FC236}">
                <a16:creationId xmlns:a16="http://schemas.microsoft.com/office/drawing/2014/main" id="{58BA21B4-E000-B485-49A5-52A5DABAB691}"/>
              </a:ext>
            </a:extLst>
          </p:cNvPr>
          <p:cNvPicPr>
            <a:picLocks noChangeAspect="1"/>
          </p:cNvPicPr>
          <p:nvPr/>
        </p:nvPicPr>
        <p:blipFill>
          <a:blip r:embed="rId2"/>
          <a:stretch>
            <a:fillRect/>
          </a:stretch>
        </p:blipFill>
        <p:spPr>
          <a:xfrm>
            <a:off x="361158" y="1750815"/>
            <a:ext cx="5379441" cy="2139350"/>
          </a:xfrm>
          <a:prstGeom prst="rect">
            <a:avLst/>
          </a:prstGeom>
        </p:spPr>
      </p:pic>
      <p:pic>
        <p:nvPicPr>
          <p:cNvPr id="21" name="Picture 20">
            <a:extLst>
              <a:ext uri="{FF2B5EF4-FFF2-40B4-BE49-F238E27FC236}">
                <a16:creationId xmlns:a16="http://schemas.microsoft.com/office/drawing/2014/main" id="{E79F7EA6-B161-4AF5-CD21-67DDDF989222}"/>
              </a:ext>
            </a:extLst>
          </p:cNvPr>
          <p:cNvPicPr>
            <a:picLocks noChangeAspect="1"/>
          </p:cNvPicPr>
          <p:nvPr/>
        </p:nvPicPr>
        <p:blipFill>
          <a:blip r:embed="rId3"/>
          <a:stretch>
            <a:fillRect/>
          </a:stretch>
        </p:blipFill>
        <p:spPr>
          <a:xfrm>
            <a:off x="7086822" y="1872211"/>
            <a:ext cx="3406435" cy="1767384"/>
          </a:xfrm>
          <a:prstGeom prst="rect">
            <a:avLst/>
          </a:prstGeom>
        </p:spPr>
      </p:pic>
    </p:spTree>
    <p:extLst>
      <p:ext uri="{BB962C8B-B14F-4D97-AF65-F5344CB8AC3E}">
        <p14:creationId xmlns:p14="http://schemas.microsoft.com/office/powerpoint/2010/main" val="3275098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2BEE-581D-A4D0-BFF3-B7E70EA178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4AFB74-FC12-9D0A-BBB8-C4E716798AF4}"/>
              </a:ext>
            </a:extLst>
          </p:cNvPr>
          <p:cNvSpPr txBox="1"/>
          <p:nvPr/>
        </p:nvSpPr>
        <p:spPr>
          <a:xfrm>
            <a:off x="361158" y="489261"/>
            <a:ext cx="11067068" cy="400110"/>
          </a:xfrm>
          <a:prstGeom prst="rect">
            <a:avLst/>
          </a:prstGeom>
          <a:noFill/>
        </p:spPr>
        <p:txBody>
          <a:bodyPr wrap="square" rtlCol="0">
            <a:spAutoFit/>
          </a:bodyPr>
          <a:lstStyle/>
          <a:p>
            <a:r>
              <a:rPr lang="en-US" sz="2000" dirty="0">
                <a:solidFill>
                  <a:srgbClr val="FF0000"/>
                </a:solidFill>
              </a:rPr>
              <a:t>3. Which energy types contribute most to emissions across all countries?</a:t>
            </a:r>
            <a:endParaRPr lang="en-IN" sz="2000" dirty="0">
              <a:solidFill>
                <a:srgbClr val="FF0000"/>
              </a:solidFill>
            </a:endParaRPr>
          </a:p>
        </p:txBody>
      </p:sp>
      <p:sp>
        <p:nvSpPr>
          <p:cNvPr id="11" name="TextBox 10">
            <a:extLst>
              <a:ext uri="{FF2B5EF4-FFF2-40B4-BE49-F238E27FC236}">
                <a16:creationId xmlns:a16="http://schemas.microsoft.com/office/drawing/2014/main" id="{AF505D14-C617-4446-69B4-59E3C0627E96}"/>
              </a:ext>
            </a:extLst>
          </p:cNvPr>
          <p:cNvSpPr txBox="1"/>
          <p:nvPr/>
        </p:nvSpPr>
        <p:spPr>
          <a:xfrm>
            <a:off x="1610768" y="1255793"/>
            <a:ext cx="2026763" cy="400110"/>
          </a:xfrm>
          <a:prstGeom prst="rect">
            <a:avLst/>
          </a:prstGeom>
          <a:noFill/>
        </p:spPr>
        <p:txBody>
          <a:bodyPr wrap="square" rtlCol="0">
            <a:spAutoFit/>
          </a:bodyPr>
          <a:lstStyle/>
          <a:p>
            <a:r>
              <a:rPr lang="en-US" sz="2000" dirty="0"/>
              <a:t>Query </a:t>
            </a:r>
            <a:endParaRPr lang="en-IN" sz="2000" dirty="0"/>
          </a:p>
        </p:txBody>
      </p:sp>
      <p:sp>
        <p:nvSpPr>
          <p:cNvPr id="12" name="TextBox 11">
            <a:extLst>
              <a:ext uri="{FF2B5EF4-FFF2-40B4-BE49-F238E27FC236}">
                <a16:creationId xmlns:a16="http://schemas.microsoft.com/office/drawing/2014/main" id="{35070673-EF1F-2C53-D7DD-B199D1D175D3}"/>
              </a:ext>
            </a:extLst>
          </p:cNvPr>
          <p:cNvSpPr txBox="1"/>
          <p:nvPr/>
        </p:nvSpPr>
        <p:spPr>
          <a:xfrm>
            <a:off x="7974369" y="1255793"/>
            <a:ext cx="2026763" cy="400110"/>
          </a:xfrm>
          <a:prstGeom prst="rect">
            <a:avLst/>
          </a:prstGeom>
          <a:noFill/>
        </p:spPr>
        <p:txBody>
          <a:bodyPr wrap="square" rtlCol="0">
            <a:spAutoFit/>
          </a:bodyPr>
          <a:lstStyle/>
          <a:p>
            <a:r>
              <a:rPr lang="en-US" sz="2000" dirty="0"/>
              <a:t>Output</a:t>
            </a:r>
            <a:endParaRPr lang="en-IN" sz="2000" dirty="0"/>
          </a:p>
        </p:txBody>
      </p:sp>
      <p:sp>
        <p:nvSpPr>
          <p:cNvPr id="15" name="TextBox 14">
            <a:extLst>
              <a:ext uri="{FF2B5EF4-FFF2-40B4-BE49-F238E27FC236}">
                <a16:creationId xmlns:a16="http://schemas.microsoft.com/office/drawing/2014/main" id="{2F5394A7-553D-67B2-46DB-85CA24CE1598}"/>
              </a:ext>
            </a:extLst>
          </p:cNvPr>
          <p:cNvSpPr txBox="1"/>
          <p:nvPr/>
        </p:nvSpPr>
        <p:spPr>
          <a:xfrm>
            <a:off x="766333" y="4751609"/>
            <a:ext cx="10314621" cy="416011"/>
          </a:xfrm>
          <a:prstGeom prst="rect">
            <a:avLst/>
          </a:prstGeom>
          <a:noFill/>
        </p:spPr>
        <p:txBody>
          <a:bodyPr wrap="square">
            <a:spAutoFit/>
          </a:bodyPr>
          <a:lstStyle/>
          <a:p>
            <a:pPr>
              <a:lnSpc>
                <a:spcPct val="150000"/>
              </a:lnSpc>
            </a:pPr>
            <a:r>
              <a:rPr lang="en-US" sz="1600" dirty="0"/>
              <a:t>This measures what energy types contributed to the most of the emissions</a:t>
            </a:r>
            <a:endParaRPr lang="en-IN" sz="1600" dirty="0"/>
          </a:p>
        </p:txBody>
      </p:sp>
      <p:sp>
        <p:nvSpPr>
          <p:cNvPr id="17" name="TextBox 16">
            <a:extLst>
              <a:ext uri="{FF2B5EF4-FFF2-40B4-BE49-F238E27FC236}">
                <a16:creationId xmlns:a16="http://schemas.microsoft.com/office/drawing/2014/main" id="{5F22C46F-785F-760F-4ADB-1F22705A31F7}"/>
              </a:ext>
            </a:extLst>
          </p:cNvPr>
          <p:cNvSpPr txBox="1"/>
          <p:nvPr/>
        </p:nvSpPr>
        <p:spPr>
          <a:xfrm>
            <a:off x="1610768" y="4156910"/>
            <a:ext cx="6218902" cy="400110"/>
          </a:xfrm>
          <a:prstGeom prst="rect">
            <a:avLst/>
          </a:prstGeom>
          <a:noFill/>
        </p:spPr>
        <p:txBody>
          <a:bodyPr wrap="square">
            <a:spAutoFit/>
          </a:bodyPr>
          <a:lstStyle/>
          <a:p>
            <a:r>
              <a:rPr lang="en-US" sz="2000" dirty="0"/>
              <a:t>Insights</a:t>
            </a:r>
            <a:endParaRPr lang="en-IN" sz="2000" dirty="0"/>
          </a:p>
        </p:txBody>
      </p:sp>
      <p:pic>
        <p:nvPicPr>
          <p:cNvPr id="4" name="Picture 3">
            <a:extLst>
              <a:ext uri="{FF2B5EF4-FFF2-40B4-BE49-F238E27FC236}">
                <a16:creationId xmlns:a16="http://schemas.microsoft.com/office/drawing/2014/main" id="{405DA19A-8AB3-A81A-F878-DB711F430191}"/>
              </a:ext>
            </a:extLst>
          </p:cNvPr>
          <p:cNvPicPr>
            <a:picLocks noChangeAspect="1"/>
          </p:cNvPicPr>
          <p:nvPr/>
        </p:nvPicPr>
        <p:blipFill>
          <a:blip r:embed="rId2"/>
          <a:stretch>
            <a:fillRect/>
          </a:stretch>
        </p:blipFill>
        <p:spPr>
          <a:xfrm>
            <a:off x="766333" y="1934772"/>
            <a:ext cx="5121084" cy="1943268"/>
          </a:xfrm>
          <a:prstGeom prst="rect">
            <a:avLst/>
          </a:prstGeom>
        </p:spPr>
      </p:pic>
      <p:pic>
        <p:nvPicPr>
          <p:cNvPr id="6" name="Picture 5">
            <a:extLst>
              <a:ext uri="{FF2B5EF4-FFF2-40B4-BE49-F238E27FC236}">
                <a16:creationId xmlns:a16="http://schemas.microsoft.com/office/drawing/2014/main" id="{4F489904-6B7E-05AD-7C29-16E1C39D945A}"/>
              </a:ext>
            </a:extLst>
          </p:cNvPr>
          <p:cNvPicPr>
            <a:picLocks noChangeAspect="1"/>
          </p:cNvPicPr>
          <p:nvPr/>
        </p:nvPicPr>
        <p:blipFill>
          <a:blip r:embed="rId3"/>
          <a:stretch>
            <a:fillRect/>
          </a:stretch>
        </p:blipFill>
        <p:spPr>
          <a:xfrm>
            <a:off x="7392474" y="2313716"/>
            <a:ext cx="3581710" cy="1013548"/>
          </a:xfrm>
          <a:prstGeom prst="rect">
            <a:avLst/>
          </a:prstGeom>
        </p:spPr>
      </p:pic>
    </p:spTree>
    <p:extLst>
      <p:ext uri="{BB962C8B-B14F-4D97-AF65-F5344CB8AC3E}">
        <p14:creationId xmlns:p14="http://schemas.microsoft.com/office/powerpoint/2010/main" val="4176431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AA8C0-A82D-98CF-879A-95F9BC53098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AA8B80-972F-0541-213D-2B95C59960D4}"/>
              </a:ext>
            </a:extLst>
          </p:cNvPr>
          <p:cNvSpPr txBox="1"/>
          <p:nvPr/>
        </p:nvSpPr>
        <p:spPr>
          <a:xfrm>
            <a:off x="361158" y="489261"/>
            <a:ext cx="11067068" cy="400110"/>
          </a:xfrm>
          <a:prstGeom prst="rect">
            <a:avLst/>
          </a:prstGeom>
          <a:noFill/>
        </p:spPr>
        <p:txBody>
          <a:bodyPr wrap="square" rtlCol="0">
            <a:spAutoFit/>
          </a:bodyPr>
          <a:lstStyle/>
          <a:p>
            <a:r>
              <a:rPr lang="en-US" sz="2000" dirty="0">
                <a:solidFill>
                  <a:srgbClr val="FF0000"/>
                </a:solidFill>
              </a:rPr>
              <a:t>4.What is the total emission per country for the most recent year available?</a:t>
            </a:r>
            <a:endParaRPr lang="en-IN" sz="2000" dirty="0">
              <a:solidFill>
                <a:srgbClr val="FF0000"/>
              </a:solidFill>
            </a:endParaRPr>
          </a:p>
        </p:txBody>
      </p:sp>
      <p:sp>
        <p:nvSpPr>
          <p:cNvPr id="11" name="TextBox 10">
            <a:extLst>
              <a:ext uri="{FF2B5EF4-FFF2-40B4-BE49-F238E27FC236}">
                <a16:creationId xmlns:a16="http://schemas.microsoft.com/office/drawing/2014/main" id="{CF239672-1792-4164-C79F-2EB2DFB9A161}"/>
              </a:ext>
            </a:extLst>
          </p:cNvPr>
          <p:cNvSpPr txBox="1"/>
          <p:nvPr/>
        </p:nvSpPr>
        <p:spPr>
          <a:xfrm>
            <a:off x="1610768" y="1255793"/>
            <a:ext cx="2026763" cy="400110"/>
          </a:xfrm>
          <a:prstGeom prst="rect">
            <a:avLst/>
          </a:prstGeom>
          <a:noFill/>
        </p:spPr>
        <p:txBody>
          <a:bodyPr wrap="square" rtlCol="0">
            <a:spAutoFit/>
          </a:bodyPr>
          <a:lstStyle/>
          <a:p>
            <a:r>
              <a:rPr lang="en-US" sz="2000" dirty="0"/>
              <a:t>Query </a:t>
            </a:r>
            <a:endParaRPr lang="en-IN" sz="2000" dirty="0"/>
          </a:p>
        </p:txBody>
      </p:sp>
      <p:sp>
        <p:nvSpPr>
          <p:cNvPr id="12" name="TextBox 11">
            <a:extLst>
              <a:ext uri="{FF2B5EF4-FFF2-40B4-BE49-F238E27FC236}">
                <a16:creationId xmlns:a16="http://schemas.microsoft.com/office/drawing/2014/main" id="{1B45C1F9-81EB-260F-1918-DF4415669600}"/>
              </a:ext>
            </a:extLst>
          </p:cNvPr>
          <p:cNvSpPr txBox="1"/>
          <p:nvPr/>
        </p:nvSpPr>
        <p:spPr>
          <a:xfrm>
            <a:off x="7974369" y="1255793"/>
            <a:ext cx="2026763" cy="400110"/>
          </a:xfrm>
          <a:prstGeom prst="rect">
            <a:avLst/>
          </a:prstGeom>
          <a:noFill/>
        </p:spPr>
        <p:txBody>
          <a:bodyPr wrap="square" rtlCol="0">
            <a:spAutoFit/>
          </a:bodyPr>
          <a:lstStyle/>
          <a:p>
            <a:r>
              <a:rPr lang="en-US" sz="2000" dirty="0"/>
              <a:t>Output</a:t>
            </a:r>
            <a:endParaRPr lang="en-IN" sz="2000" dirty="0"/>
          </a:p>
        </p:txBody>
      </p:sp>
      <p:sp>
        <p:nvSpPr>
          <p:cNvPr id="15" name="TextBox 14">
            <a:extLst>
              <a:ext uri="{FF2B5EF4-FFF2-40B4-BE49-F238E27FC236}">
                <a16:creationId xmlns:a16="http://schemas.microsoft.com/office/drawing/2014/main" id="{40FEE56C-6D5C-8A05-9ADD-D4F7519F7EEE}"/>
              </a:ext>
            </a:extLst>
          </p:cNvPr>
          <p:cNvSpPr txBox="1"/>
          <p:nvPr/>
        </p:nvSpPr>
        <p:spPr>
          <a:xfrm>
            <a:off x="766333" y="4751609"/>
            <a:ext cx="10314621" cy="1154675"/>
          </a:xfrm>
          <a:prstGeom prst="rect">
            <a:avLst/>
          </a:prstGeom>
          <a:noFill/>
        </p:spPr>
        <p:txBody>
          <a:bodyPr wrap="square">
            <a:spAutoFit/>
          </a:bodyPr>
          <a:lstStyle/>
          <a:p>
            <a:pPr>
              <a:lnSpc>
                <a:spcPct val="150000"/>
              </a:lnSpc>
            </a:pPr>
            <a:r>
              <a:rPr lang="en-US" sz="1600" dirty="0"/>
              <a:t>This analysis identifies the total emissions generated by each country in the latest available year. It helps compare countries based on their overall emission levels, excluding the already calculated total CO₂ row to avoid double-counting</a:t>
            </a:r>
            <a:endParaRPr lang="en-IN" sz="1600" dirty="0"/>
          </a:p>
        </p:txBody>
      </p:sp>
      <p:sp>
        <p:nvSpPr>
          <p:cNvPr id="17" name="TextBox 16">
            <a:extLst>
              <a:ext uri="{FF2B5EF4-FFF2-40B4-BE49-F238E27FC236}">
                <a16:creationId xmlns:a16="http://schemas.microsoft.com/office/drawing/2014/main" id="{18261B61-7C67-7F15-14F3-61DA5B0FCB64}"/>
              </a:ext>
            </a:extLst>
          </p:cNvPr>
          <p:cNvSpPr txBox="1"/>
          <p:nvPr/>
        </p:nvSpPr>
        <p:spPr>
          <a:xfrm>
            <a:off x="1610768" y="4156910"/>
            <a:ext cx="6218902" cy="400110"/>
          </a:xfrm>
          <a:prstGeom prst="rect">
            <a:avLst/>
          </a:prstGeom>
          <a:noFill/>
        </p:spPr>
        <p:txBody>
          <a:bodyPr wrap="square">
            <a:spAutoFit/>
          </a:bodyPr>
          <a:lstStyle/>
          <a:p>
            <a:r>
              <a:rPr lang="en-US" sz="2000" dirty="0"/>
              <a:t>Insights</a:t>
            </a:r>
            <a:endParaRPr lang="en-IN" sz="2000" dirty="0"/>
          </a:p>
        </p:txBody>
      </p:sp>
      <p:pic>
        <p:nvPicPr>
          <p:cNvPr id="6" name="Picture 5">
            <a:extLst>
              <a:ext uri="{FF2B5EF4-FFF2-40B4-BE49-F238E27FC236}">
                <a16:creationId xmlns:a16="http://schemas.microsoft.com/office/drawing/2014/main" id="{F9E2AA8C-B3D2-0DE3-A994-583192AF6B15}"/>
              </a:ext>
            </a:extLst>
          </p:cNvPr>
          <p:cNvPicPr>
            <a:picLocks noChangeAspect="1"/>
          </p:cNvPicPr>
          <p:nvPr/>
        </p:nvPicPr>
        <p:blipFill>
          <a:blip r:embed="rId2"/>
          <a:srcRect l="1425" t="4422"/>
          <a:stretch>
            <a:fillRect/>
          </a:stretch>
        </p:blipFill>
        <p:spPr>
          <a:xfrm>
            <a:off x="560439" y="1675466"/>
            <a:ext cx="4822724" cy="2461880"/>
          </a:xfrm>
          <a:prstGeom prst="rect">
            <a:avLst/>
          </a:prstGeom>
        </p:spPr>
      </p:pic>
      <p:pic>
        <p:nvPicPr>
          <p:cNvPr id="8" name="Picture 7">
            <a:extLst>
              <a:ext uri="{FF2B5EF4-FFF2-40B4-BE49-F238E27FC236}">
                <a16:creationId xmlns:a16="http://schemas.microsoft.com/office/drawing/2014/main" id="{E8FDCFEB-5155-12FB-F490-0C74CB77E021}"/>
              </a:ext>
            </a:extLst>
          </p:cNvPr>
          <p:cNvPicPr>
            <a:picLocks noChangeAspect="1"/>
          </p:cNvPicPr>
          <p:nvPr/>
        </p:nvPicPr>
        <p:blipFill>
          <a:blip r:embed="rId3"/>
          <a:srcRect l="13822" t="3940"/>
          <a:stretch>
            <a:fillRect/>
          </a:stretch>
        </p:blipFill>
        <p:spPr>
          <a:xfrm>
            <a:off x="7039897" y="1779639"/>
            <a:ext cx="2425715" cy="2540196"/>
          </a:xfrm>
          <a:prstGeom prst="rect">
            <a:avLst/>
          </a:prstGeom>
        </p:spPr>
      </p:pic>
    </p:spTree>
    <p:extLst>
      <p:ext uri="{BB962C8B-B14F-4D97-AF65-F5344CB8AC3E}">
        <p14:creationId xmlns:p14="http://schemas.microsoft.com/office/powerpoint/2010/main" val="4055913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A625C-36FF-A01F-86A8-0A65724B49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7D432C-8A8D-9DCF-0F6B-24B91D77561F}"/>
              </a:ext>
            </a:extLst>
          </p:cNvPr>
          <p:cNvSpPr txBox="1"/>
          <p:nvPr/>
        </p:nvSpPr>
        <p:spPr>
          <a:xfrm>
            <a:off x="361158" y="489261"/>
            <a:ext cx="11067068" cy="400110"/>
          </a:xfrm>
          <a:prstGeom prst="rect">
            <a:avLst/>
          </a:prstGeom>
          <a:noFill/>
        </p:spPr>
        <p:txBody>
          <a:bodyPr wrap="square" rtlCol="0">
            <a:spAutoFit/>
          </a:bodyPr>
          <a:lstStyle/>
          <a:p>
            <a:r>
              <a:rPr lang="en-US" sz="2000" dirty="0">
                <a:solidFill>
                  <a:srgbClr val="FF0000"/>
                </a:solidFill>
              </a:rPr>
              <a:t>5. How has population growth affected total emissions in each country?</a:t>
            </a:r>
            <a:endParaRPr lang="en-IN" sz="2000" dirty="0">
              <a:solidFill>
                <a:srgbClr val="FF0000"/>
              </a:solidFill>
            </a:endParaRPr>
          </a:p>
        </p:txBody>
      </p:sp>
      <p:sp>
        <p:nvSpPr>
          <p:cNvPr id="11" name="TextBox 10">
            <a:extLst>
              <a:ext uri="{FF2B5EF4-FFF2-40B4-BE49-F238E27FC236}">
                <a16:creationId xmlns:a16="http://schemas.microsoft.com/office/drawing/2014/main" id="{C89A89E4-9D30-8175-E620-360D9B11CB84}"/>
              </a:ext>
            </a:extLst>
          </p:cNvPr>
          <p:cNvSpPr txBox="1"/>
          <p:nvPr/>
        </p:nvSpPr>
        <p:spPr>
          <a:xfrm>
            <a:off x="1473117" y="938415"/>
            <a:ext cx="2026763" cy="400110"/>
          </a:xfrm>
          <a:prstGeom prst="rect">
            <a:avLst/>
          </a:prstGeom>
          <a:noFill/>
        </p:spPr>
        <p:txBody>
          <a:bodyPr wrap="square" rtlCol="0">
            <a:spAutoFit/>
          </a:bodyPr>
          <a:lstStyle/>
          <a:p>
            <a:r>
              <a:rPr lang="en-US" sz="2000" dirty="0"/>
              <a:t>Query </a:t>
            </a:r>
            <a:endParaRPr lang="en-IN" sz="2000" dirty="0"/>
          </a:p>
        </p:txBody>
      </p:sp>
      <p:sp>
        <p:nvSpPr>
          <p:cNvPr id="12" name="TextBox 11">
            <a:extLst>
              <a:ext uri="{FF2B5EF4-FFF2-40B4-BE49-F238E27FC236}">
                <a16:creationId xmlns:a16="http://schemas.microsoft.com/office/drawing/2014/main" id="{1C9DDFD5-24B9-21BD-B564-42F15246D2A2}"/>
              </a:ext>
            </a:extLst>
          </p:cNvPr>
          <p:cNvSpPr txBox="1"/>
          <p:nvPr/>
        </p:nvSpPr>
        <p:spPr>
          <a:xfrm>
            <a:off x="8210343" y="938415"/>
            <a:ext cx="2026763" cy="400110"/>
          </a:xfrm>
          <a:prstGeom prst="rect">
            <a:avLst/>
          </a:prstGeom>
          <a:noFill/>
        </p:spPr>
        <p:txBody>
          <a:bodyPr wrap="square" rtlCol="0">
            <a:spAutoFit/>
          </a:bodyPr>
          <a:lstStyle/>
          <a:p>
            <a:r>
              <a:rPr lang="en-US" sz="2000" dirty="0"/>
              <a:t>Output</a:t>
            </a:r>
            <a:endParaRPr lang="en-IN" sz="2000" dirty="0"/>
          </a:p>
        </p:txBody>
      </p:sp>
      <p:pic>
        <p:nvPicPr>
          <p:cNvPr id="13" name="Picture 12">
            <a:extLst>
              <a:ext uri="{FF2B5EF4-FFF2-40B4-BE49-F238E27FC236}">
                <a16:creationId xmlns:a16="http://schemas.microsoft.com/office/drawing/2014/main" id="{8E023343-246A-537A-FCD6-23345EC4C711}"/>
              </a:ext>
            </a:extLst>
          </p:cNvPr>
          <p:cNvPicPr>
            <a:picLocks noChangeAspect="1"/>
          </p:cNvPicPr>
          <p:nvPr/>
        </p:nvPicPr>
        <p:blipFill>
          <a:blip r:embed="rId2"/>
          <a:stretch>
            <a:fillRect/>
          </a:stretch>
        </p:blipFill>
        <p:spPr>
          <a:xfrm>
            <a:off x="7799030" y="1655903"/>
            <a:ext cx="3749365" cy="2149026"/>
          </a:xfrm>
          <a:prstGeom prst="rect">
            <a:avLst/>
          </a:prstGeom>
        </p:spPr>
      </p:pic>
      <p:pic>
        <p:nvPicPr>
          <p:cNvPr id="16" name="Picture 15">
            <a:extLst>
              <a:ext uri="{FF2B5EF4-FFF2-40B4-BE49-F238E27FC236}">
                <a16:creationId xmlns:a16="http://schemas.microsoft.com/office/drawing/2014/main" id="{B531417C-1754-01A2-01CA-A907F51F004A}"/>
              </a:ext>
            </a:extLst>
          </p:cNvPr>
          <p:cNvPicPr>
            <a:picLocks noChangeAspect="1"/>
          </p:cNvPicPr>
          <p:nvPr/>
        </p:nvPicPr>
        <p:blipFill>
          <a:blip r:embed="rId3"/>
          <a:stretch>
            <a:fillRect/>
          </a:stretch>
        </p:blipFill>
        <p:spPr>
          <a:xfrm>
            <a:off x="491613" y="1448511"/>
            <a:ext cx="6681834" cy="4712836"/>
          </a:xfrm>
          <a:prstGeom prst="rect">
            <a:avLst/>
          </a:prstGeom>
        </p:spPr>
      </p:pic>
      <p:sp>
        <p:nvSpPr>
          <p:cNvPr id="20" name="TextBox 19">
            <a:extLst>
              <a:ext uri="{FF2B5EF4-FFF2-40B4-BE49-F238E27FC236}">
                <a16:creationId xmlns:a16="http://schemas.microsoft.com/office/drawing/2014/main" id="{3C16C491-E66D-4B54-B517-B9A0E2CFA19A}"/>
              </a:ext>
            </a:extLst>
          </p:cNvPr>
          <p:cNvSpPr txBox="1"/>
          <p:nvPr/>
        </p:nvSpPr>
        <p:spPr>
          <a:xfrm>
            <a:off x="7609586" y="4449861"/>
            <a:ext cx="6096000" cy="785343"/>
          </a:xfrm>
          <a:prstGeom prst="rect">
            <a:avLst/>
          </a:prstGeom>
          <a:noFill/>
        </p:spPr>
        <p:txBody>
          <a:bodyPr wrap="square">
            <a:spAutoFit/>
          </a:bodyPr>
          <a:lstStyle/>
          <a:p>
            <a:pPr>
              <a:lnSpc>
                <a:spcPct val="150000"/>
              </a:lnSpc>
            </a:pPr>
            <a:r>
              <a:rPr lang="en-US" sz="1600" dirty="0"/>
              <a:t>It does not prove that population growth</a:t>
            </a:r>
          </a:p>
          <a:p>
            <a:pPr>
              <a:lnSpc>
                <a:spcPct val="150000"/>
              </a:lnSpc>
            </a:pPr>
            <a:r>
              <a:rPr lang="en-US" sz="1600" dirty="0"/>
              <a:t>causes emissions growth.</a:t>
            </a:r>
            <a:endParaRPr lang="en-IN" sz="1600" dirty="0"/>
          </a:p>
        </p:txBody>
      </p:sp>
      <p:sp>
        <p:nvSpPr>
          <p:cNvPr id="23" name="TextBox 22">
            <a:extLst>
              <a:ext uri="{FF2B5EF4-FFF2-40B4-BE49-F238E27FC236}">
                <a16:creationId xmlns:a16="http://schemas.microsoft.com/office/drawing/2014/main" id="{8D142D9B-690B-7FCA-1D11-E3DB71B23A0A}"/>
              </a:ext>
            </a:extLst>
          </p:cNvPr>
          <p:cNvSpPr txBox="1"/>
          <p:nvPr/>
        </p:nvSpPr>
        <p:spPr>
          <a:xfrm>
            <a:off x="8523326" y="4012321"/>
            <a:ext cx="2026763" cy="400110"/>
          </a:xfrm>
          <a:prstGeom prst="rect">
            <a:avLst/>
          </a:prstGeom>
          <a:noFill/>
        </p:spPr>
        <p:txBody>
          <a:bodyPr wrap="square" rtlCol="0">
            <a:spAutoFit/>
          </a:bodyPr>
          <a:lstStyle/>
          <a:p>
            <a:r>
              <a:rPr lang="en-US" sz="2000" dirty="0"/>
              <a:t>Insights</a:t>
            </a:r>
            <a:endParaRPr lang="en-IN" sz="2000" dirty="0"/>
          </a:p>
        </p:txBody>
      </p:sp>
    </p:spTree>
    <p:extLst>
      <p:ext uri="{BB962C8B-B14F-4D97-AF65-F5344CB8AC3E}">
        <p14:creationId xmlns:p14="http://schemas.microsoft.com/office/powerpoint/2010/main" val="2896760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483D7-EA79-9E16-4A61-FD2AC89B2C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C2AE818-7612-2776-1B84-40D81381211F}"/>
              </a:ext>
            </a:extLst>
          </p:cNvPr>
          <p:cNvSpPr txBox="1"/>
          <p:nvPr/>
        </p:nvSpPr>
        <p:spPr>
          <a:xfrm>
            <a:off x="361158" y="489261"/>
            <a:ext cx="11067068" cy="400110"/>
          </a:xfrm>
          <a:prstGeom prst="rect">
            <a:avLst/>
          </a:prstGeom>
          <a:noFill/>
        </p:spPr>
        <p:txBody>
          <a:bodyPr wrap="square" rtlCol="0">
            <a:spAutoFit/>
          </a:bodyPr>
          <a:lstStyle/>
          <a:p>
            <a:r>
              <a:rPr lang="en-US" sz="2000" dirty="0">
                <a:solidFill>
                  <a:srgbClr val="FF0000"/>
                </a:solidFill>
              </a:rPr>
              <a:t>6. What are the top 10 countries by population and how do their emissions compare? </a:t>
            </a:r>
            <a:endParaRPr lang="en-IN" sz="2000" dirty="0">
              <a:solidFill>
                <a:srgbClr val="FF0000"/>
              </a:solidFill>
            </a:endParaRPr>
          </a:p>
        </p:txBody>
      </p:sp>
      <p:sp>
        <p:nvSpPr>
          <p:cNvPr id="11" name="TextBox 10">
            <a:extLst>
              <a:ext uri="{FF2B5EF4-FFF2-40B4-BE49-F238E27FC236}">
                <a16:creationId xmlns:a16="http://schemas.microsoft.com/office/drawing/2014/main" id="{3070FF50-2B3C-E74D-EA4D-A07A99CF262D}"/>
              </a:ext>
            </a:extLst>
          </p:cNvPr>
          <p:cNvSpPr txBox="1"/>
          <p:nvPr/>
        </p:nvSpPr>
        <p:spPr>
          <a:xfrm>
            <a:off x="1473117" y="938415"/>
            <a:ext cx="2026763" cy="400110"/>
          </a:xfrm>
          <a:prstGeom prst="rect">
            <a:avLst/>
          </a:prstGeom>
          <a:noFill/>
        </p:spPr>
        <p:txBody>
          <a:bodyPr wrap="square" rtlCol="0">
            <a:spAutoFit/>
          </a:bodyPr>
          <a:lstStyle/>
          <a:p>
            <a:r>
              <a:rPr lang="en-US" sz="2000" dirty="0"/>
              <a:t>Query </a:t>
            </a:r>
            <a:endParaRPr lang="en-IN" sz="2000" dirty="0"/>
          </a:p>
        </p:txBody>
      </p:sp>
      <p:sp>
        <p:nvSpPr>
          <p:cNvPr id="12" name="TextBox 11">
            <a:extLst>
              <a:ext uri="{FF2B5EF4-FFF2-40B4-BE49-F238E27FC236}">
                <a16:creationId xmlns:a16="http://schemas.microsoft.com/office/drawing/2014/main" id="{51819EAB-4D75-7202-DE08-7E813638F33F}"/>
              </a:ext>
            </a:extLst>
          </p:cNvPr>
          <p:cNvSpPr txBox="1"/>
          <p:nvPr/>
        </p:nvSpPr>
        <p:spPr>
          <a:xfrm>
            <a:off x="8210343" y="938415"/>
            <a:ext cx="2026763" cy="400110"/>
          </a:xfrm>
          <a:prstGeom prst="rect">
            <a:avLst/>
          </a:prstGeom>
          <a:noFill/>
        </p:spPr>
        <p:txBody>
          <a:bodyPr wrap="square" rtlCol="0">
            <a:spAutoFit/>
          </a:bodyPr>
          <a:lstStyle/>
          <a:p>
            <a:r>
              <a:rPr lang="en-US" sz="2000" dirty="0"/>
              <a:t>Output</a:t>
            </a:r>
            <a:endParaRPr lang="en-IN" sz="2000" dirty="0"/>
          </a:p>
        </p:txBody>
      </p:sp>
      <p:sp>
        <p:nvSpPr>
          <p:cNvPr id="20" name="TextBox 19">
            <a:extLst>
              <a:ext uri="{FF2B5EF4-FFF2-40B4-BE49-F238E27FC236}">
                <a16:creationId xmlns:a16="http://schemas.microsoft.com/office/drawing/2014/main" id="{7287DEEC-077E-D852-C9B3-26B9D250EFC9}"/>
              </a:ext>
            </a:extLst>
          </p:cNvPr>
          <p:cNvSpPr txBox="1"/>
          <p:nvPr/>
        </p:nvSpPr>
        <p:spPr>
          <a:xfrm>
            <a:off x="7609586" y="4440029"/>
            <a:ext cx="6096000" cy="785343"/>
          </a:xfrm>
          <a:prstGeom prst="rect">
            <a:avLst/>
          </a:prstGeom>
          <a:noFill/>
        </p:spPr>
        <p:txBody>
          <a:bodyPr wrap="square">
            <a:spAutoFit/>
          </a:bodyPr>
          <a:lstStyle/>
          <a:p>
            <a:pPr>
              <a:lnSpc>
                <a:spcPct val="150000"/>
              </a:lnSpc>
            </a:pPr>
            <a:r>
              <a:rPr lang="en-US" sz="1600" dirty="0"/>
              <a:t>It does not prove that population growth</a:t>
            </a:r>
          </a:p>
          <a:p>
            <a:pPr>
              <a:lnSpc>
                <a:spcPct val="150000"/>
              </a:lnSpc>
            </a:pPr>
            <a:r>
              <a:rPr lang="en-US" sz="1600" dirty="0"/>
              <a:t>causes emissions growth.</a:t>
            </a:r>
            <a:endParaRPr lang="en-IN" sz="1600" dirty="0"/>
          </a:p>
        </p:txBody>
      </p:sp>
      <p:sp>
        <p:nvSpPr>
          <p:cNvPr id="23" name="TextBox 22">
            <a:extLst>
              <a:ext uri="{FF2B5EF4-FFF2-40B4-BE49-F238E27FC236}">
                <a16:creationId xmlns:a16="http://schemas.microsoft.com/office/drawing/2014/main" id="{9DFF4C15-7552-B239-FDDD-30F26041DC7B}"/>
              </a:ext>
            </a:extLst>
          </p:cNvPr>
          <p:cNvSpPr txBox="1"/>
          <p:nvPr/>
        </p:nvSpPr>
        <p:spPr>
          <a:xfrm>
            <a:off x="8523326" y="4012321"/>
            <a:ext cx="2026763" cy="400110"/>
          </a:xfrm>
          <a:prstGeom prst="rect">
            <a:avLst/>
          </a:prstGeom>
          <a:noFill/>
        </p:spPr>
        <p:txBody>
          <a:bodyPr wrap="square" rtlCol="0">
            <a:spAutoFit/>
          </a:bodyPr>
          <a:lstStyle/>
          <a:p>
            <a:r>
              <a:rPr lang="en-US" sz="2000" dirty="0"/>
              <a:t>Insights</a:t>
            </a:r>
            <a:endParaRPr lang="en-IN" sz="2000" dirty="0"/>
          </a:p>
        </p:txBody>
      </p:sp>
      <p:pic>
        <p:nvPicPr>
          <p:cNvPr id="6" name="Picture 5">
            <a:extLst>
              <a:ext uri="{FF2B5EF4-FFF2-40B4-BE49-F238E27FC236}">
                <a16:creationId xmlns:a16="http://schemas.microsoft.com/office/drawing/2014/main" id="{9C1A529A-96DD-9B04-B46D-30D8FA05119C}"/>
              </a:ext>
            </a:extLst>
          </p:cNvPr>
          <p:cNvPicPr>
            <a:picLocks noChangeAspect="1"/>
          </p:cNvPicPr>
          <p:nvPr/>
        </p:nvPicPr>
        <p:blipFill>
          <a:blip r:embed="rId2"/>
          <a:stretch>
            <a:fillRect/>
          </a:stretch>
        </p:blipFill>
        <p:spPr>
          <a:xfrm>
            <a:off x="361158" y="1655903"/>
            <a:ext cx="6167461" cy="4017310"/>
          </a:xfrm>
          <a:prstGeom prst="rect">
            <a:avLst/>
          </a:prstGeom>
        </p:spPr>
      </p:pic>
      <p:pic>
        <p:nvPicPr>
          <p:cNvPr id="8" name="Picture 7">
            <a:extLst>
              <a:ext uri="{FF2B5EF4-FFF2-40B4-BE49-F238E27FC236}">
                <a16:creationId xmlns:a16="http://schemas.microsoft.com/office/drawing/2014/main" id="{34E8D85C-E9E2-C411-A0AA-4D05896B15E3}"/>
              </a:ext>
            </a:extLst>
          </p:cNvPr>
          <p:cNvPicPr>
            <a:picLocks noChangeAspect="1"/>
          </p:cNvPicPr>
          <p:nvPr/>
        </p:nvPicPr>
        <p:blipFill>
          <a:blip r:embed="rId3"/>
          <a:stretch>
            <a:fillRect/>
          </a:stretch>
        </p:blipFill>
        <p:spPr>
          <a:xfrm>
            <a:off x="7672919" y="1536071"/>
            <a:ext cx="3101609" cy="2027096"/>
          </a:xfrm>
          <a:prstGeom prst="rect">
            <a:avLst/>
          </a:prstGeom>
        </p:spPr>
      </p:pic>
    </p:spTree>
    <p:extLst>
      <p:ext uri="{BB962C8B-B14F-4D97-AF65-F5344CB8AC3E}">
        <p14:creationId xmlns:p14="http://schemas.microsoft.com/office/powerpoint/2010/main" val="3551268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3B639-2F3B-6A75-65A5-A7D23532FC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6A6B8F-668F-A2D9-E884-45CB6BA3CA90}"/>
              </a:ext>
            </a:extLst>
          </p:cNvPr>
          <p:cNvSpPr txBox="1"/>
          <p:nvPr/>
        </p:nvSpPr>
        <p:spPr>
          <a:xfrm>
            <a:off x="361158" y="489261"/>
            <a:ext cx="11067068" cy="400110"/>
          </a:xfrm>
          <a:prstGeom prst="rect">
            <a:avLst/>
          </a:prstGeom>
          <a:noFill/>
        </p:spPr>
        <p:txBody>
          <a:bodyPr wrap="square" rtlCol="0">
            <a:spAutoFit/>
          </a:bodyPr>
          <a:lstStyle/>
          <a:p>
            <a:r>
              <a:rPr lang="en-US" sz="2000" dirty="0">
                <a:solidFill>
                  <a:srgbClr val="FF0000"/>
                </a:solidFill>
              </a:rPr>
              <a:t>7. Compare energy production and consumption by country and year.</a:t>
            </a:r>
            <a:endParaRPr lang="en-IN" sz="2000" dirty="0">
              <a:solidFill>
                <a:srgbClr val="FF0000"/>
              </a:solidFill>
            </a:endParaRPr>
          </a:p>
        </p:txBody>
      </p:sp>
      <p:sp>
        <p:nvSpPr>
          <p:cNvPr id="11" name="TextBox 10">
            <a:extLst>
              <a:ext uri="{FF2B5EF4-FFF2-40B4-BE49-F238E27FC236}">
                <a16:creationId xmlns:a16="http://schemas.microsoft.com/office/drawing/2014/main" id="{EEE8175A-309E-CD58-176E-9B73876F959A}"/>
              </a:ext>
            </a:extLst>
          </p:cNvPr>
          <p:cNvSpPr txBox="1"/>
          <p:nvPr/>
        </p:nvSpPr>
        <p:spPr>
          <a:xfrm>
            <a:off x="1610768" y="1255793"/>
            <a:ext cx="2026763" cy="400110"/>
          </a:xfrm>
          <a:prstGeom prst="rect">
            <a:avLst/>
          </a:prstGeom>
          <a:noFill/>
        </p:spPr>
        <p:txBody>
          <a:bodyPr wrap="square" rtlCol="0">
            <a:spAutoFit/>
          </a:bodyPr>
          <a:lstStyle/>
          <a:p>
            <a:r>
              <a:rPr lang="en-US" sz="2000" dirty="0"/>
              <a:t>Query </a:t>
            </a:r>
            <a:endParaRPr lang="en-IN" sz="2000" dirty="0"/>
          </a:p>
        </p:txBody>
      </p:sp>
      <p:sp>
        <p:nvSpPr>
          <p:cNvPr id="12" name="TextBox 11">
            <a:extLst>
              <a:ext uri="{FF2B5EF4-FFF2-40B4-BE49-F238E27FC236}">
                <a16:creationId xmlns:a16="http://schemas.microsoft.com/office/drawing/2014/main" id="{02A9F554-3E88-C0D5-8DDD-1154A70697AC}"/>
              </a:ext>
            </a:extLst>
          </p:cNvPr>
          <p:cNvSpPr txBox="1"/>
          <p:nvPr/>
        </p:nvSpPr>
        <p:spPr>
          <a:xfrm>
            <a:off x="7974369" y="1255793"/>
            <a:ext cx="2026763" cy="400110"/>
          </a:xfrm>
          <a:prstGeom prst="rect">
            <a:avLst/>
          </a:prstGeom>
          <a:noFill/>
        </p:spPr>
        <p:txBody>
          <a:bodyPr wrap="square" rtlCol="0">
            <a:spAutoFit/>
          </a:bodyPr>
          <a:lstStyle/>
          <a:p>
            <a:r>
              <a:rPr lang="en-US" sz="2000" dirty="0"/>
              <a:t>Output</a:t>
            </a:r>
            <a:endParaRPr lang="en-IN" sz="2000" dirty="0"/>
          </a:p>
        </p:txBody>
      </p:sp>
      <p:pic>
        <p:nvPicPr>
          <p:cNvPr id="8" name="Picture 7">
            <a:extLst>
              <a:ext uri="{FF2B5EF4-FFF2-40B4-BE49-F238E27FC236}">
                <a16:creationId xmlns:a16="http://schemas.microsoft.com/office/drawing/2014/main" id="{7E9E6C74-8E29-C4D5-A4AF-13C69A0973C3}"/>
              </a:ext>
            </a:extLst>
          </p:cNvPr>
          <p:cNvPicPr>
            <a:picLocks noChangeAspect="1"/>
          </p:cNvPicPr>
          <p:nvPr/>
        </p:nvPicPr>
        <p:blipFill>
          <a:blip r:embed="rId2"/>
          <a:stretch>
            <a:fillRect/>
          </a:stretch>
        </p:blipFill>
        <p:spPr>
          <a:xfrm>
            <a:off x="432034" y="1958470"/>
            <a:ext cx="4976293" cy="3901555"/>
          </a:xfrm>
          <a:prstGeom prst="rect">
            <a:avLst/>
          </a:prstGeom>
        </p:spPr>
      </p:pic>
      <p:pic>
        <p:nvPicPr>
          <p:cNvPr id="13" name="Picture 12">
            <a:extLst>
              <a:ext uri="{FF2B5EF4-FFF2-40B4-BE49-F238E27FC236}">
                <a16:creationId xmlns:a16="http://schemas.microsoft.com/office/drawing/2014/main" id="{F3C4DEC9-8FFB-235A-5563-0BA7AB587607}"/>
              </a:ext>
            </a:extLst>
          </p:cNvPr>
          <p:cNvPicPr>
            <a:picLocks noChangeAspect="1"/>
          </p:cNvPicPr>
          <p:nvPr/>
        </p:nvPicPr>
        <p:blipFill>
          <a:blip r:embed="rId3"/>
          <a:stretch>
            <a:fillRect/>
          </a:stretch>
        </p:blipFill>
        <p:spPr>
          <a:xfrm>
            <a:off x="6193412" y="1872211"/>
            <a:ext cx="4976291" cy="1694270"/>
          </a:xfrm>
          <a:prstGeom prst="rect">
            <a:avLst/>
          </a:prstGeom>
        </p:spPr>
      </p:pic>
      <p:sp>
        <p:nvSpPr>
          <p:cNvPr id="15" name="TextBox 14">
            <a:extLst>
              <a:ext uri="{FF2B5EF4-FFF2-40B4-BE49-F238E27FC236}">
                <a16:creationId xmlns:a16="http://schemas.microsoft.com/office/drawing/2014/main" id="{421A13AE-F239-FB4C-8E20-6E94938175F3}"/>
              </a:ext>
            </a:extLst>
          </p:cNvPr>
          <p:cNvSpPr txBox="1"/>
          <p:nvPr/>
        </p:nvSpPr>
        <p:spPr>
          <a:xfrm>
            <a:off x="6488708" y="4506583"/>
            <a:ext cx="6096000" cy="1524135"/>
          </a:xfrm>
          <a:prstGeom prst="rect">
            <a:avLst/>
          </a:prstGeom>
          <a:noFill/>
        </p:spPr>
        <p:txBody>
          <a:bodyPr wrap="square">
            <a:spAutoFit/>
          </a:bodyPr>
          <a:lstStyle/>
          <a:p>
            <a:pPr>
              <a:lnSpc>
                <a:spcPct val="150000"/>
              </a:lnSpc>
            </a:pPr>
            <a:r>
              <a:rPr lang="en-IN" sz="1600" dirty="0"/>
              <a:t>It helps to identify whether a country produces</a:t>
            </a:r>
          </a:p>
          <a:p>
            <a:pPr>
              <a:lnSpc>
                <a:spcPct val="150000"/>
              </a:lnSpc>
            </a:pPr>
            <a:r>
              <a:rPr lang="en-IN" sz="1600" dirty="0"/>
              <a:t>more energy than it consumes or vice versa.</a:t>
            </a:r>
          </a:p>
          <a:p>
            <a:pPr>
              <a:lnSpc>
                <a:spcPct val="150000"/>
              </a:lnSpc>
            </a:pPr>
            <a:r>
              <a:rPr lang="en-US" sz="1600" dirty="0">
                <a:sym typeface="Wingdings" panose="05000000000000000000" pitchFamily="2" charset="2"/>
              </a:rPr>
              <a:t></a:t>
            </a:r>
            <a:r>
              <a:rPr lang="en-US" sz="1600" dirty="0"/>
              <a:t>negative--consumption is more</a:t>
            </a:r>
          </a:p>
          <a:p>
            <a:pPr>
              <a:lnSpc>
                <a:spcPct val="150000"/>
              </a:lnSpc>
            </a:pPr>
            <a:r>
              <a:rPr lang="en-US" sz="1600" dirty="0">
                <a:sym typeface="Wingdings" panose="05000000000000000000" pitchFamily="2" charset="2"/>
              </a:rPr>
              <a:t></a:t>
            </a:r>
            <a:r>
              <a:rPr lang="en-US" sz="1600" dirty="0"/>
              <a:t> positive--production is more</a:t>
            </a:r>
            <a:endParaRPr lang="en-IN" sz="1600" dirty="0"/>
          </a:p>
        </p:txBody>
      </p:sp>
      <p:sp>
        <p:nvSpPr>
          <p:cNvPr id="17" name="TextBox 16">
            <a:extLst>
              <a:ext uri="{FF2B5EF4-FFF2-40B4-BE49-F238E27FC236}">
                <a16:creationId xmlns:a16="http://schemas.microsoft.com/office/drawing/2014/main" id="{20F4813C-C971-40FB-9E9C-FD5D42BE7D5B}"/>
              </a:ext>
            </a:extLst>
          </p:cNvPr>
          <p:cNvSpPr txBox="1"/>
          <p:nvPr/>
        </p:nvSpPr>
        <p:spPr>
          <a:xfrm>
            <a:off x="8060252" y="3890165"/>
            <a:ext cx="6218902" cy="400110"/>
          </a:xfrm>
          <a:prstGeom prst="rect">
            <a:avLst/>
          </a:prstGeom>
          <a:noFill/>
        </p:spPr>
        <p:txBody>
          <a:bodyPr wrap="square">
            <a:spAutoFit/>
          </a:bodyPr>
          <a:lstStyle/>
          <a:p>
            <a:r>
              <a:rPr lang="en-US" sz="2000" dirty="0"/>
              <a:t>Insights</a:t>
            </a:r>
            <a:endParaRPr lang="en-IN" sz="2000" dirty="0"/>
          </a:p>
        </p:txBody>
      </p:sp>
    </p:spTree>
    <p:extLst>
      <p:ext uri="{BB962C8B-B14F-4D97-AF65-F5344CB8AC3E}">
        <p14:creationId xmlns:p14="http://schemas.microsoft.com/office/powerpoint/2010/main" val="3127375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6FA8A-9687-AE95-9F86-A3B0C10315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3F6279-194B-4DAE-A604-7C575F42D623}"/>
              </a:ext>
            </a:extLst>
          </p:cNvPr>
          <p:cNvSpPr txBox="1"/>
          <p:nvPr/>
        </p:nvSpPr>
        <p:spPr>
          <a:xfrm>
            <a:off x="361158" y="489261"/>
            <a:ext cx="11067068" cy="400110"/>
          </a:xfrm>
          <a:prstGeom prst="rect">
            <a:avLst/>
          </a:prstGeom>
          <a:noFill/>
        </p:spPr>
        <p:txBody>
          <a:bodyPr wrap="square" rtlCol="0">
            <a:spAutoFit/>
          </a:bodyPr>
          <a:lstStyle/>
          <a:p>
            <a:r>
              <a:rPr lang="en-US" sz="2000" dirty="0">
                <a:solidFill>
                  <a:srgbClr val="FF0000"/>
                </a:solidFill>
              </a:rPr>
              <a:t>8. What is the trend in GDP for each country over the given years?</a:t>
            </a:r>
            <a:endParaRPr lang="en-IN" sz="2000" dirty="0">
              <a:solidFill>
                <a:srgbClr val="FF0000"/>
              </a:solidFill>
            </a:endParaRPr>
          </a:p>
        </p:txBody>
      </p:sp>
      <p:sp>
        <p:nvSpPr>
          <p:cNvPr id="11" name="TextBox 10">
            <a:extLst>
              <a:ext uri="{FF2B5EF4-FFF2-40B4-BE49-F238E27FC236}">
                <a16:creationId xmlns:a16="http://schemas.microsoft.com/office/drawing/2014/main" id="{EF929E6D-2DC2-C903-5ACC-E19B6871BE21}"/>
              </a:ext>
            </a:extLst>
          </p:cNvPr>
          <p:cNvSpPr txBox="1"/>
          <p:nvPr/>
        </p:nvSpPr>
        <p:spPr>
          <a:xfrm>
            <a:off x="1610768" y="1255793"/>
            <a:ext cx="2026763" cy="400110"/>
          </a:xfrm>
          <a:prstGeom prst="rect">
            <a:avLst/>
          </a:prstGeom>
          <a:noFill/>
        </p:spPr>
        <p:txBody>
          <a:bodyPr wrap="square" rtlCol="0">
            <a:spAutoFit/>
          </a:bodyPr>
          <a:lstStyle/>
          <a:p>
            <a:r>
              <a:rPr lang="en-US" sz="2000" dirty="0"/>
              <a:t>Query </a:t>
            </a:r>
            <a:endParaRPr lang="en-IN" sz="2000" dirty="0"/>
          </a:p>
        </p:txBody>
      </p:sp>
      <p:sp>
        <p:nvSpPr>
          <p:cNvPr id="12" name="TextBox 11">
            <a:extLst>
              <a:ext uri="{FF2B5EF4-FFF2-40B4-BE49-F238E27FC236}">
                <a16:creationId xmlns:a16="http://schemas.microsoft.com/office/drawing/2014/main" id="{FC5C96F5-3EE3-217B-981C-C261E0F9FFD9}"/>
              </a:ext>
            </a:extLst>
          </p:cNvPr>
          <p:cNvSpPr txBox="1"/>
          <p:nvPr/>
        </p:nvSpPr>
        <p:spPr>
          <a:xfrm>
            <a:off x="8564711" y="1197064"/>
            <a:ext cx="2026763" cy="400110"/>
          </a:xfrm>
          <a:prstGeom prst="rect">
            <a:avLst/>
          </a:prstGeom>
          <a:noFill/>
        </p:spPr>
        <p:txBody>
          <a:bodyPr wrap="square" rtlCol="0">
            <a:spAutoFit/>
          </a:bodyPr>
          <a:lstStyle/>
          <a:p>
            <a:r>
              <a:rPr lang="en-US" sz="2000" dirty="0"/>
              <a:t>Output</a:t>
            </a:r>
            <a:endParaRPr lang="en-IN" sz="2000" dirty="0"/>
          </a:p>
        </p:txBody>
      </p:sp>
      <p:sp>
        <p:nvSpPr>
          <p:cNvPr id="15" name="TextBox 14">
            <a:extLst>
              <a:ext uri="{FF2B5EF4-FFF2-40B4-BE49-F238E27FC236}">
                <a16:creationId xmlns:a16="http://schemas.microsoft.com/office/drawing/2014/main" id="{B3939F4D-1247-3BA8-B9D1-F7E7DA587AEF}"/>
              </a:ext>
            </a:extLst>
          </p:cNvPr>
          <p:cNvSpPr txBox="1"/>
          <p:nvPr/>
        </p:nvSpPr>
        <p:spPr>
          <a:xfrm>
            <a:off x="530942" y="4444497"/>
            <a:ext cx="7059561" cy="1154675"/>
          </a:xfrm>
          <a:prstGeom prst="rect">
            <a:avLst/>
          </a:prstGeom>
          <a:noFill/>
        </p:spPr>
        <p:txBody>
          <a:bodyPr wrap="square">
            <a:spAutoFit/>
          </a:bodyPr>
          <a:lstStyle/>
          <a:p>
            <a:pPr>
              <a:lnSpc>
                <a:spcPct val="150000"/>
              </a:lnSpc>
            </a:pPr>
            <a:r>
              <a:rPr lang="en-US" sz="1600" dirty="0"/>
              <a:t>It helps identify periods of economic growth or decline for individual </a:t>
            </a:r>
            <a:r>
              <a:rPr lang="en-US" sz="1600" dirty="0" err="1"/>
              <a:t>countries.so,for</a:t>
            </a:r>
            <a:r>
              <a:rPr lang="en-US" sz="1600" dirty="0"/>
              <a:t> some countries </a:t>
            </a:r>
            <a:r>
              <a:rPr lang="en-US" sz="1600" dirty="0" err="1"/>
              <a:t>gdp</a:t>
            </a:r>
            <a:r>
              <a:rPr lang="en-US" sz="1600" dirty="0"/>
              <a:t> increased meanwhile others it is decreased.</a:t>
            </a:r>
            <a:endParaRPr lang="en-IN" sz="1600" dirty="0"/>
          </a:p>
        </p:txBody>
      </p:sp>
      <p:sp>
        <p:nvSpPr>
          <p:cNvPr id="17" name="TextBox 16">
            <a:extLst>
              <a:ext uri="{FF2B5EF4-FFF2-40B4-BE49-F238E27FC236}">
                <a16:creationId xmlns:a16="http://schemas.microsoft.com/office/drawing/2014/main" id="{A3712495-195B-6C78-189D-97C514A5C66A}"/>
              </a:ext>
            </a:extLst>
          </p:cNvPr>
          <p:cNvSpPr txBox="1"/>
          <p:nvPr/>
        </p:nvSpPr>
        <p:spPr>
          <a:xfrm>
            <a:off x="1610768" y="3900700"/>
            <a:ext cx="6218902" cy="400110"/>
          </a:xfrm>
          <a:prstGeom prst="rect">
            <a:avLst/>
          </a:prstGeom>
          <a:noFill/>
        </p:spPr>
        <p:txBody>
          <a:bodyPr wrap="square">
            <a:spAutoFit/>
          </a:bodyPr>
          <a:lstStyle/>
          <a:p>
            <a:r>
              <a:rPr lang="en-US" sz="2000" dirty="0"/>
              <a:t>Insights</a:t>
            </a:r>
            <a:endParaRPr lang="en-IN" sz="2000" dirty="0"/>
          </a:p>
        </p:txBody>
      </p:sp>
      <p:pic>
        <p:nvPicPr>
          <p:cNvPr id="4" name="Picture 3">
            <a:extLst>
              <a:ext uri="{FF2B5EF4-FFF2-40B4-BE49-F238E27FC236}">
                <a16:creationId xmlns:a16="http://schemas.microsoft.com/office/drawing/2014/main" id="{2FCF74B0-8A9A-9375-64ED-A494EB70EB4A}"/>
              </a:ext>
            </a:extLst>
          </p:cNvPr>
          <p:cNvPicPr>
            <a:picLocks noChangeAspect="1"/>
          </p:cNvPicPr>
          <p:nvPr/>
        </p:nvPicPr>
        <p:blipFill>
          <a:blip r:embed="rId2"/>
          <a:stretch>
            <a:fillRect/>
          </a:stretch>
        </p:blipFill>
        <p:spPr>
          <a:xfrm>
            <a:off x="611122" y="1904868"/>
            <a:ext cx="6359367" cy="1524132"/>
          </a:xfrm>
          <a:prstGeom prst="rect">
            <a:avLst/>
          </a:prstGeom>
        </p:spPr>
      </p:pic>
      <p:pic>
        <p:nvPicPr>
          <p:cNvPr id="6" name="Picture 5">
            <a:extLst>
              <a:ext uri="{FF2B5EF4-FFF2-40B4-BE49-F238E27FC236}">
                <a16:creationId xmlns:a16="http://schemas.microsoft.com/office/drawing/2014/main" id="{E78E71AB-35A7-EAB4-1B8E-33C102F5CCC7}"/>
              </a:ext>
            </a:extLst>
          </p:cNvPr>
          <p:cNvPicPr>
            <a:picLocks noChangeAspect="1"/>
          </p:cNvPicPr>
          <p:nvPr/>
        </p:nvPicPr>
        <p:blipFill>
          <a:blip r:embed="rId3"/>
          <a:srcRect l="7170" t="4359" r="13555"/>
          <a:stretch>
            <a:fillRect/>
          </a:stretch>
        </p:blipFill>
        <p:spPr>
          <a:xfrm>
            <a:off x="7974369" y="2022325"/>
            <a:ext cx="2930013" cy="2529094"/>
          </a:xfrm>
          <a:prstGeom prst="rect">
            <a:avLst/>
          </a:prstGeom>
        </p:spPr>
      </p:pic>
    </p:spTree>
    <p:extLst>
      <p:ext uri="{BB962C8B-B14F-4D97-AF65-F5344CB8AC3E}">
        <p14:creationId xmlns:p14="http://schemas.microsoft.com/office/powerpoint/2010/main" val="2877950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D80B9-D1E8-6770-FC63-6A27A1B2EA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563687-48B9-0655-4B4B-7D4A3D0EA063}"/>
              </a:ext>
            </a:extLst>
          </p:cNvPr>
          <p:cNvSpPr txBox="1"/>
          <p:nvPr/>
        </p:nvSpPr>
        <p:spPr>
          <a:xfrm>
            <a:off x="361158" y="489261"/>
            <a:ext cx="11067068" cy="400110"/>
          </a:xfrm>
          <a:prstGeom prst="rect">
            <a:avLst/>
          </a:prstGeom>
          <a:noFill/>
        </p:spPr>
        <p:txBody>
          <a:bodyPr wrap="square" rtlCol="0">
            <a:spAutoFit/>
          </a:bodyPr>
          <a:lstStyle/>
          <a:p>
            <a:r>
              <a:rPr lang="en-US" sz="2000" dirty="0">
                <a:solidFill>
                  <a:srgbClr val="FF0000"/>
                </a:solidFill>
              </a:rPr>
              <a:t>9.What is the energy consumption per capita for each country over the last decade? </a:t>
            </a:r>
            <a:endParaRPr lang="en-IN" sz="2000" dirty="0">
              <a:solidFill>
                <a:srgbClr val="FF0000"/>
              </a:solidFill>
            </a:endParaRPr>
          </a:p>
        </p:txBody>
      </p:sp>
      <p:sp>
        <p:nvSpPr>
          <p:cNvPr id="11" name="TextBox 10">
            <a:extLst>
              <a:ext uri="{FF2B5EF4-FFF2-40B4-BE49-F238E27FC236}">
                <a16:creationId xmlns:a16="http://schemas.microsoft.com/office/drawing/2014/main" id="{2B937F39-4C73-2F8F-4E8F-C96BDAC75880}"/>
              </a:ext>
            </a:extLst>
          </p:cNvPr>
          <p:cNvSpPr txBox="1"/>
          <p:nvPr/>
        </p:nvSpPr>
        <p:spPr>
          <a:xfrm>
            <a:off x="1610768" y="1255793"/>
            <a:ext cx="2026763" cy="400110"/>
          </a:xfrm>
          <a:prstGeom prst="rect">
            <a:avLst/>
          </a:prstGeom>
          <a:noFill/>
        </p:spPr>
        <p:txBody>
          <a:bodyPr wrap="square" rtlCol="0">
            <a:spAutoFit/>
          </a:bodyPr>
          <a:lstStyle/>
          <a:p>
            <a:r>
              <a:rPr lang="en-US" sz="2000" dirty="0"/>
              <a:t>Query </a:t>
            </a:r>
            <a:endParaRPr lang="en-IN" sz="2000" dirty="0"/>
          </a:p>
        </p:txBody>
      </p:sp>
      <p:sp>
        <p:nvSpPr>
          <p:cNvPr id="12" name="TextBox 11">
            <a:extLst>
              <a:ext uri="{FF2B5EF4-FFF2-40B4-BE49-F238E27FC236}">
                <a16:creationId xmlns:a16="http://schemas.microsoft.com/office/drawing/2014/main" id="{F60543B4-58DA-3668-0BF9-12C0074C29FD}"/>
              </a:ext>
            </a:extLst>
          </p:cNvPr>
          <p:cNvSpPr txBox="1"/>
          <p:nvPr/>
        </p:nvSpPr>
        <p:spPr>
          <a:xfrm>
            <a:off x="8564711" y="1197064"/>
            <a:ext cx="2026763" cy="400110"/>
          </a:xfrm>
          <a:prstGeom prst="rect">
            <a:avLst/>
          </a:prstGeom>
          <a:noFill/>
        </p:spPr>
        <p:txBody>
          <a:bodyPr wrap="square" rtlCol="0">
            <a:spAutoFit/>
          </a:bodyPr>
          <a:lstStyle/>
          <a:p>
            <a:r>
              <a:rPr lang="en-US" sz="2000" dirty="0"/>
              <a:t>Output</a:t>
            </a:r>
            <a:endParaRPr lang="en-IN" sz="2000" dirty="0"/>
          </a:p>
        </p:txBody>
      </p:sp>
      <p:sp>
        <p:nvSpPr>
          <p:cNvPr id="15" name="TextBox 14">
            <a:extLst>
              <a:ext uri="{FF2B5EF4-FFF2-40B4-BE49-F238E27FC236}">
                <a16:creationId xmlns:a16="http://schemas.microsoft.com/office/drawing/2014/main" id="{661783DF-FC7D-9FFB-E361-7303E42894C3}"/>
              </a:ext>
            </a:extLst>
          </p:cNvPr>
          <p:cNvSpPr txBox="1"/>
          <p:nvPr/>
        </p:nvSpPr>
        <p:spPr>
          <a:xfrm>
            <a:off x="669001" y="5208424"/>
            <a:ext cx="7059561" cy="785343"/>
          </a:xfrm>
          <a:prstGeom prst="rect">
            <a:avLst/>
          </a:prstGeom>
          <a:noFill/>
        </p:spPr>
        <p:txBody>
          <a:bodyPr wrap="square">
            <a:spAutoFit/>
          </a:bodyPr>
          <a:lstStyle/>
          <a:p>
            <a:pPr>
              <a:lnSpc>
                <a:spcPct val="150000"/>
              </a:lnSpc>
            </a:pPr>
            <a:r>
              <a:rPr lang="en-US" sz="1600" dirty="0"/>
              <a:t>It provides a fairer comparison between countries with different population sizes for the last decade.</a:t>
            </a:r>
            <a:endParaRPr lang="en-IN" sz="1600" dirty="0"/>
          </a:p>
        </p:txBody>
      </p:sp>
      <p:sp>
        <p:nvSpPr>
          <p:cNvPr id="17" name="TextBox 16">
            <a:extLst>
              <a:ext uri="{FF2B5EF4-FFF2-40B4-BE49-F238E27FC236}">
                <a16:creationId xmlns:a16="http://schemas.microsoft.com/office/drawing/2014/main" id="{CFCC8001-2574-1BA2-1D96-235C4819825F}"/>
              </a:ext>
            </a:extLst>
          </p:cNvPr>
          <p:cNvSpPr txBox="1"/>
          <p:nvPr/>
        </p:nvSpPr>
        <p:spPr>
          <a:xfrm>
            <a:off x="1413795" y="4616115"/>
            <a:ext cx="6218902" cy="400110"/>
          </a:xfrm>
          <a:prstGeom prst="rect">
            <a:avLst/>
          </a:prstGeom>
          <a:noFill/>
        </p:spPr>
        <p:txBody>
          <a:bodyPr wrap="square">
            <a:spAutoFit/>
          </a:bodyPr>
          <a:lstStyle/>
          <a:p>
            <a:r>
              <a:rPr lang="en-US" sz="2000" dirty="0"/>
              <a:t>Insights</a:t>
            </a:r>
            <a:endParaRPr lang="en-IN" sz="2000" dirty="0"/>
          </a:p>
        </p:txBody>
      </p:sp>
      <p:pic>
        <p:nvPicPr>
          <p:cNvPr id="5" name="Picture 4">
            <a:extLst>
              <a:ext uri="{FF2B5EF4-FFF2-40B4-BE49-F238E27FC236}">
                <a16:creationId xmlns:a16="http://schemas.microsoft.com/office/drawing/2014/main" id="{D63F1EF6-BE1D-5CC5-823F-D50E058ED0C4}"/>
              </a:ext>
            </a:extLst>
          </p:cNvPr>
          <p:cNvPicPr>
            <a:picLocks noChangeAspect="1"/>
          </p:cNvPicPr>
          <p:nvPr/>
        </p:nvPicPr>
        <p:blipFill>
          <a:blip r:embed="rId2"/>
          <a:stretch>
            <a:fillRect/>
          </a:stretch>
        </p:blipFill>
        <p:spPr>
          <a:xfrm>
            <a:off x="410181" y="1793094"/>
            <a:ext cx="6454699" cy="2705334"/>
          </a:xfrm>
          <a:prstGeom prst="rect">
            <a:avLst/>
          </a:prstGeom>
        </p:spPr>
      </p:pic>
      <p:pic>
        <p:nvPicPr>
          <p:cNvPr id="8" name="Picture 7">
            <a:extLst>
              <a:ext uri="{FF2B5EF4-FFF2-40B4-BE49-F238E27FC236}">
                <a16:creationId xmlns:a16="http://schemas.microsoft.com/office/drawing/2014/main" id="{F74B2E6E-962A-DFA4-2FDF-1695A8F7245E}"/>
              </a:ext>
            </a:extLst>
          </p:cNvPr>
          <p:cNvPicPr>
            <a:picLocks noChangeAspect="1"/>
          </p:cNvPicPr>
          <p:nvPr/>
        </p:nvPicPr>
        <p:blipFill>
          <a:blip r:embed="rId3"/>
          <a:stretch>
            <a:fillRect/>
          </a:stretch>
        </p:blipFill>
        <p:spPr>
          <a:xfrm>
            <a:off x="6709704" y="2045838"/>
            <a:ext cx="4534293" cy="2142704"/>
          </a:xfrm>
          <a:prstGeom prst="rect">
            <a:avLst/>
          </a:prstGeom>
        </p:spPr>
      </p:pic>
    </p:spTree>
    <p:extLst>
      <p:ext uri="{BB962C8B-B14F-4D97-AF65-F5344CB8AC3E}">
        <p14:creationId xmlns:p14="http://schemas.microsoft.com/office/powerpoint/2010/main" val="1668481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76B0C-AC84-D305-2B2D-5B146FF6CD4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C68D32-5E48-AB97-6074-240E6EF45DEC}"/>
              </a:ext>
            </a:extLst>
          </p:cNvPr>
          <p:cNvSpPr txBox="1"/>
          <p:nvPr/>
        </p:nvSpPr>
        <p:spPr>
          <a:xfrm>
            <a:off x="361158" y="489261"/>
            <a:ext cx="11067068" cy="400110"/>
          </a:xfrm>
          <a:prstGeom prst="rect">
            <a:avLst/>
          </a:prstGeom>
          <a:noFill/>
        </p:spPr>
        <p:txBody>
          <a:bodyPr wrap="square" rtlCol="0">
            <a:spAutoFit/>
          </a:bodyPr>
          <a:lstStyle/>
          <a:p>
            <a:r>
              <a:rPr lang="en-US" sz="2000" dirty="0">
                <a:solidFill>
                  <a:srgbClr val="FF0000"/>
                </a:solidFill>
              </a:rPr>
              <a:t>10. What is the global share (%) of emissions by country? </a:t>
            </a:r>
            <a:endParaRPr lang="en-IN" sz="2000" dirty="0">
              <a:solidFill>
                <a:srgbClr val="FF0000"/>
              </a:solidFill>
            </a:endParaRPr>
          </a:p>
        </p:txBody>
      </p:sp>
      <p:sp>
        <p:nvSpPr>
          <p:cNvPr id="11" name="TextBox 10">
            <a:extLst>
              <a:ext uri="{FF2B5EF4-FFF2-40B4-BE49-F238E27FC236}">
                <a16:creationId xmlns:a16="http://schemas.microsoft.com/office/drawing/2014/main" id="{434E075B-395B-DA1B-A101-B1C5438B15EB}"/>
              </a:ext>
            </a:extLst>
          </p:cNvPr>
          <p:cNvSpPr txBox="1"/>
          <p:nvPr/>
        </p:nvSpPr>
        <p:spPr>
          <a:xfrm>
            <a:off x="1610768" y="1255793"/>
            <a:ext cx="2026763" cy="400110"/>
          </a:xfrm>
          <a:prstGeom prst="rect">
            <a:avLst/>
          </a:prstGeom>
          <a:noFill/>
        </p:spPr>
        <p:txBody>
          <a:bodyPr wrap="square" rtlCol="0">
            <a:spAutoFit/>
          </a:bodyPr>
          <a:lstStyle/>
          <a:p>
            <a:r>
              <a:rPr lang="en-US" sz="2000" dirty="0"/>
              <a:t>Query </a:t>
            </a:r>
            <a:endParaRPr lang="en-IN" sz="2000" dirty="0"/>
          </a:p>
        </p:txBody>
      </p:sp>
      <p:sp>
        <p:nvSpPr>
          <p:cNvPr id="12" name="TextBox 11">
            <a:extLst>
              <a:ext uri="{FF2B5EF4-FFF2-40B4-BE49-F238E27FC236}">
                <a16:creationId xmlns:a16="http://schemas.microsoft.com/office/drawing/2014/main" id="{CCDAF8D1-9050-2A6C-96EF-346590A41C56}"/>
              </a:ext>
            </a:extLst>
          </p:cNvPr>
          <p:cNvSpPr txBox="1"/>
          <p:nvPr/>
        </p:nvSpPr>
        <p:spPr>
          <a:xfrm>
            <a:off x="8564711" y="1197064"/>
            <a:ext cx="2026763" cy="400110"/>
          </a:xfrm>
          <a:prstGeom prst="rect">
            <a:avLst/>
          </a:prstGeom>
          <a:noFill/>
        </p:spPr>
        <p:txBody>
          <a:bodyPr wrap="square" rtlCol="0">
            <a:spAutoFit/>
          </a:bodyPr>
          <a:lstStyle/>
          <a:p>
            <a:r>
              <a:rPr lang="en-US" sz="2000" dirty="0"/>
              <a:t>Output</a:t>
            </a:r>
            <a:endParaRPr lang="en-IN" sz="2000" dirty="0"/>
          </a:p>
        </p:txBody>
      </p:sp>
      <p:sp>
        <p:nvSpPr>
          <p:cNvPr id="15" name="TextBox 14">
            <a:extLst>
              <a:ext uri="{FF2B5EF4-FFF2-40B4-BE49-F238E27FC236}">
                <a16:creationId xmlns:a16="http://schemas.microsoft.com/office/drawing/2014/main" id="{5297BED3-A010-C321-9FB7-168A8E283298}"/>
              </a:ext>
            </a:extLst>
          </p:cNvPr>
          <p:cNvSpPr txBox="1"/>
          <p:nvPr/>
        </p:nvSpPr>
        <p:spPr>
          <a:xfrm>
            <a:off x="669001" y="5208424"/>
            <a:ext cx="7059561" cy="1154675"/>
          </a:xfrm>
          <a:prstGeom prst="rect">
            <a:avLst/>
          </a:prstGeom>
          <a:noFill/>
        </p:spPr>
        <p:txBody>
          <a:bodyPr wrap="square">
            <a:spAutoFit/>
          </a:bodyPr>
          <a:lstStyle/>
          <a:p>
            <a:pPr>
              <a:lnSpc>
                <a:spcPct val="150000"/>
              </a:lnSpc>
            </a:pPr>
            <a:r>
              <a:rPr lang="en-US" sz="1600" dirty="0"/>
              <a:t>China has highest share of </a:t>
            </a:r>
            <a:r>
              <a:rPr lang="en-US" sz="1600" dirty="0" err="1"/>
              <a:t>emissions,followed</a:t>
            </a:r>
            <a:r>
              <a:rPr lang="en-US" sz="1600" dirty="0"/>
              <a:t> by United States and India.</a:t>
            </a:r>
          </a:p>
          <a:p>
            <a:pPr>
              <a:lnSpc>
                <a:spcPct val="150000"/>
              </a:lnSpc>
            </a:pPr>
            <a:r>
              <a:rPr lang="en-US" sz="1600" dirty="0"/>
              <a:t>It shows how much each country contributes to the overall emissions represented in the dataset.</a:t>
            </a:r>
            <a:endParaRPr lang="en-IN" sz="1600" dirty="0"/>
          </a:p>
        </p:txBody>
      </p:sp>
      <p:sp>
        <p:nvSpPr>
          <p:cNvPr id="17" name="TextBox 16">
            <a:extLst>
              <a:ext uri="{FF2B5EF4-FFF2-40B4-BE49-F238E27FC236}">
                <a16:creationId xmlns:a16="http://schemas.microsoft.com/office/drawing/2014/main" id="{C04F1825-DC1F-44BC-0A5B-F1581E8B0AF0}"/>
              </a:ext>
            </a:extLst>
          </p:cNvPr>
          <p:cNvSpPr txBox="1"/>
          <p:nvPr/>
        </p:nvSpPr>
        <p:spPr>
          <a:xfrm>
            <a:off x="1610768" y="4716074"/>
            <a:ext cx="6218902" cy="400110"/>
          </a:xfrm>
          <a:prstGeom prst="rect">
            <a:avLst/>
          </a:prstGeom>
          <a:noFill/>
        </p:spPr>
        <p:txBody>
          <a:bodyPr wrap="square">
            <a:spAutoFit/>
          </a:bodyPr>
          <a:lstStyle/>
          <a:p>
            <a:r>
              <a:rPr lang="en-US" sz="2000" dirty="0"/>
              <a:t>Insights</a:t>
            </a:r>
            <a:endParaRPr lang="en-IN" sz="2000" dirty="0"/>
          </a:p>
        </p:txBody>
      </p:sp>
      <p:pic>
        <p:nvPicPr>
          <p:cNvPr id="4" name="Picture 3">
            <a:extLst>
              <a:ext uri="{FF2B5EF4-FFF2-40B4-BE49-F238E27FC236}">
                <a16:creationId xmlns:a16="http://schemas.microsoft.com/office/drawing/2014/main" id="{DA8B5BA2-18A1-EF82-EE47-200D74ABF55B}"/>
              </a:ext>
            </a:extLst>
          </p:cNvPr>
          <p:cNvPicPr>
            <a:picLocks noChangeAspect="1"/>
          </p:cNvPicPr>
          <p:nvPr/>
        </p:nvPicPr>
        <p:blipFill>
          <a:blip r:embed="rId2"/>
          <a:stretch>
            <a:fillRect/>
          </a:stretch>
        </p:blipFill>
        <p:spPr>
          <a:xfrm>
            <a:off x="669001" y="1655904"/>
            <a:ext cx="6357971" cy="2785988"/>
          </a:xfrm>
          <a:prstGeom prst="rect">
            <a:avLst/>
          </a:prstGeom>
        </p:spPr>
      </p:pic>
      <p:pic>
        <p:nvPicPr>
          <p:cNvPr id="7" name="Picture 6">
            <a:extLst>
              <a:ext uri="{FF2B5EF4-FFF2-40B4-BE49-F238E27FC236}">
                <a16:creationId xmlns:a16="http://schemas.microsoft.com/office/drawing/2014/main" id="{29F30E76-4EF2-9FDD-04C3-1992FB075978}"/>
              </a:ext>
            </a:extLst>
          </p:cNvPr>
          <p:cNvPicPr>
            <a:picLocks noChangeAspect="1"/>
          </p:cNvPicPr>
          <p:nvPr/>
        </p:nvPicPr>
        <p:blipFill>
          <a:blip r:embed="rId3"/>
          <a:srcRect l="10540" t="4738"/>
          <a:stretch>
            <a:fillRect/>
          </a:stretch>
        </p:blipFill>
        <p:spPr>
          <a:xfrm>
            <a:off x="8150941" y="1663276"/>
            <a:ext cx="2349911" cy="3252853"/>
          </a:xfrm>
          <a:prstGeom prst="rect">
            <a:avLst/>
          </a:prstGeom>
        </p:spPr>
      </p:pic>
    </p:spTree>
    <p:extLst>
      <p:ext uri="{BB962C8B-B14F-4D97-AF65-F5344CB8AC3E}">
        <p14:creationId xmlns:p14="http://schemas.microsoft.com/office/powerpoint/2010/main" val="568499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0C325D-5AB9-5D59-2E4B-379CF3E0BD31}"/>
              </a:ext>
            </a:extLst>
          </p:cNvPr>
          <p:cNvSpPr txBox="1"/>
          <p:nvPr/>
        </p:nvSpPr>
        <p:spPr>
          <a:xfrm>
            <a:off x="509047" y="1300899"/>
            <a:ext cx="11010508" cy="3785652"/>
          </a:xfrm>
          <a:prstGeom prst="rect">
            <a:avLst/>
          </a:prstGeom>
          <a:noFill/>
        </p:spPr>
        <p:txBody>
          <a:bodyPr wrap="square">
            <a:spAutoFit/>
          </a:bodyPr>
          <a:lstStyle/>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analysis provides a clear view of energy and emission patterns across countries.</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Energy production and consumption vary significantly between countries.</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GDP and population provide useful context when comparing energy and emissions.</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Per-capita measures help make fairer comparisons between countries.</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Year-wise analysis helps identify changes and trends over time.</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SQL helped transform multiple datasets into useful analytical insights</a:t>
            </a:r>
            <a:r>
              <a:rPr lang="en-IN" sz="2400" dirty="0"/>
              <a:t>.</a:t>
            </a:r>
          </a:p>
          <a:p>
            <a:pPr>
              <a:buNone/>
            </a:pP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2A1EC0B-03A5-8A72-4329-85710E2F756A}"/>
              </a:ext>
            </a:extLst>
          </p:cNvPr>
          <p:cNvSpPr txBox="1"/>
          <p:nvPr/>
        </p:nvSpPr>
        <p:spPr>
          <a:xfrm>
            <a:off x="422787" y="451021"/>
            <a:ext cx="6096000" cy="769441"/>
          </a:xfrm>
          <a:prstGeom prst="rect">
            <a:avLst/>
          </a:prstGeom>
          <a:noFill/>
        </p:spPr>
        <p:txBody>
          <a:bodyPr wrap="square">
            <a:spAutoFit/>
          </a:bodyPr>
          <a:lstStyle/>
          <a:p>
            <a:r>
              <a:rPr lang="en-IN" sz="4400" spc="-1" dirty="0">
                <a:solidFill>
                  <a:srgbClr val="FF0000"/>
                </a:solidFill>
              </a:rPr>
              <a:t>Conclusion:</a:t>
            </a:r>
            <a:endParaRPr lang="en-IN" dirty="0"/>
          </a:p>
        </p:txBody>
      </p:sp>
    </p:spTree>
    <p:extLst>
      <p:ext uri="{BB962C8B-B14F-4D97-AF65-F5344CB8AC3E}">
        <p14:creationId xmlns:p14="http://schemas.microsoft.com/office/powerpoint/2010/main" val="2303934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859B1-84B6-E8F9-65B7-568AB1B65F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C5A795-9904-F603-F831-DD8D74038B50}"/>
              </a:ext>
            </a:extLst>
          </p:cNvPr>
          <p:cNvSpPr txBox="1"/>
          <p:nvPr/>
        </p:nvSpPr>
        <p:spPr>
          <a:xfrm>
            <a:off x="509047" y="1300899"/>
            <a:ext cx="11010508" cy="3785652"/>
          </a:xfrm>
          <a:prstGeom prst="rect">
            <a:avLst/>
          </a:prstGeom>
          <a:noFill/>
        </p:spPr>
        <p:txBody>
          <a:bodyPr wrap="square">
            <a:spAutoFit/>
          </a:bodyPr>
          <a:lstStyle/>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Add an interactive dashboard to explore countries, years, energy types etc.</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Add filters to compare countries based on GDP, population, production, consumption, and emissions.</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Add automatic yearly updates so the analysis always uses the latest available data.</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Add country-wise and year-wise visual comparisons for easier analysis.</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Add alerts for significant changes in energy consumption or emissions</a:t>
            </a:r>
            <a:r>
              <a:rPr lang="en-IN" sz="2400" dirty="0"/>
              <a:t>.</a:t>
            </a:r>
          </a:p>
          <a:p>
            <a:pPr>
              <a:buNone/>
            </a:pP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F0F7990-B952-222E-BBD2-F2C1D7323E65}"/>
              </a:ext>
            </a:extLst>
          </p:cNvPr>
          <p:cNvSpPr txBox="1"/>
          <p:nvPr/>
        </p:nvSpPr>
        <p:spPr>
          <a:xfrm>
            <a:off x="422787" y="451021"/>
            <a:ext cx="6096000" cy="769441"/>
          </a:xfrm>
          <a:prstGeom prst="rect">
            <a:avLst/>
          </a:prstGeom>
          <a:noFill/>
        </p:spPr>
        <p:txBody>
          <a:bodyPr wrap="square">
            <a:spAutoFit/>
          </a:bodyPr>
          <a:lstStyle/>
          <a:p>
            <a:r>
              <a:rPr lang="en-IN" sz="4400" spc="-1" dirty="0">
                <a:solidFill>
                  <a:srgbClr val="FF0000"/>
                </a:solidFill>
              </a:rPr>
              <a:t>Recommendations:</a:t>
            </a:r>
            <a:endParaRPr lang="en-IN" dirty="0"/>
          </a:p>
        </p:txBody>
      </p:sp>
    </p:spTree>
    <p:extLst>
      <p:ext uri="{BB962C8B-B14F-4D97-AF65-F5344CB8AC3E}">
        <p14:creationId xmlns:p14="http://schemas.microsoft.com/office/powerpoint/2010/main" val="1399126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F560-1759-489A-6DF9-AAFA9C8DA8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D10F8-1B73-DD49-390F-23FC13218D52}"/>
              </a:ext>
            </a:extLst>
          </p:cNvPr>
          <p:cNvSpPr txBox="1"/>
          <p:nvPr/>
        </p:nvSpPr>
        <p:spPr>
          <a:xfrm>
            <a:off x="509047" y="1300899"/>
            <a:ext cx="11010508" cy="3719288"/>
          </a:xfrm>
          <a:prstGeom prst="rect">
            <a:avLst/>
          </a:prstGeom>
          <a:noFill/>
        </p:spPr>
        <p:txBody>
          <a:bodyPr wrap="square">
            <a:spAutoFit/>
          </a:bodyPr>
          <a:lstStyle/>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One of the main challenges was joining multiple tables correctly using country and year and avoid double counting emission values of Co2.</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Another challenge is interpreting the results correctly .</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Working on this project provided practical experience in handling and analysing multiple related datasets using SQL.</a:t>
            </a:r>
          </a:p>
          <a:p>
            <a:pPr marL="342900" lvl="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project also improved my understanding of how to connect different tables and extract meaningful insights from raw data.</a:t>
            </a:r>
          </a:p>
        </p:txBody>
      </p:sp>
      <p:sp>
        <p:nvSpPr>
          <p:cNvPr id="5" name="TextBox 4">
            <a:extLst>
              <a:ext uri="{FF2B5EF4-FFF2-40B4-BE49-F238E27FC236}">
                <a16:creationId xmlns:a16="http://schemas.microsoft.com/office/drawing/2014/main" id="{31246465-264F-59E9-8EBC-1EA28FB0E1CE}"/>
              </a:ext>
            </a:extLst>
          </p:cNvPr>
          <p:cNvSpPr txBox="1"/>
          <p:nvPr/>
        </p:nvSpPr>
        <p:spPr>
          <a:xfrm>
            <a:off x="422786" y="451021"/>
            <a:ext cx="7944465" cy="769441"/>
          </a:xfrm>
          <a:prstGeom prst="rect">
            <a:avLst/>
          </a:prstGeom>
          <a:noFill/>
        </p:spPr>
        <p:txBody>
          <a:bodyPr wrap="square">
            <a:spAutoFit/>
          </a:bodyPr>
          <a:lstStyle/>
          <a:p>
            <a:r>
              <a:rPr lang="en-IN" sz="4400" spc="-1" dirty="0">
                <a:solidFill>
                  <a:srgbClr val="FF0000"/>
                </a:solidFill>
              </a:rPr>
              <a:t>Experience and challenges:</a:t>
            </a:r>
            <a:endParaRPr lang="en-IN" dirty="0"/>
          </a:p>
        </p:txBody>
      </p:sp>
    </p:spTree>
    <p:extLst>
      <p:ext uri="{BB962C8B-B14F-4D97-AF65-F5344CB8AC3E}">
        <p14:creationId xmlns:p14="http://schemas.microsoft.com/office/powerpoint/2010/main" val="1355050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962212-66B6-54D8-81AF-918EFEF1ECB6}"/>
              </a:ext>
            </a:extLst>
          </p:cNvPr>
          <p:cNvPicPr>
            <a:picLocks noChangeAspect="1"/>
          </p:cNvPicPr>
          <p:nvPr/>
        </p:nvPicPr>
        <p:blipFill>
          <a:blip r:embed="rId2"/>
          <a:stretch>
            <a:fillRect/>
          </a:stretch>
        </p:blipFill>
        <p:spPr>
          <a:xfrm>
            <a:off x="1927122" y="353960"/>
            <a:ext cx="7482349" cy="5611762"/>
          </a:xfrm>
          <a:prstGeom prst="rect">
            <a:avLst/>
          </a:prstGeom>
        </p:spPr>
      </p:pic>
    </p:spTree>
    <p:extLst>
      <p:ext uri="{BB962C8B-B14F-4D97-AF65-F5344CB8AC3E}">
        <p14:creationId xmlns:p14="http://schemas.microsoft.com/office/powerpoint/2010/main" val="693762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801</TotalTime>
  <Words>1250</Words>
  <Application>Microsoft Office PowerPoint</Application>
  <PresentationFormat>Widescreen</PresentationFormat>
  <Paragraphs>131</Paragraphs>
  <Slides>25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Times New Roman</vt:lpstr>
      <vt:lpstr>Wingdings</vt:lpstr>
      <vt:lpstr>Calibri</vt:lpstr>
      <vt:lpstr>Lato Black</vt:lpstr>
      <vt:lpstr>Libre Baskerville</vt:lpstr>
      <vt:lpstr>Office Theme</vt:lpstr>
      <vt:lpstr>PowerPoint Presentation</vt:lpstr>
      <vt:lpstr>PowerPoint Presentation</vt:lpstr>
      <vt:lpstr>   Agenda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akhila1482005@gmail.com</cp:lastModifiedBy>
  <cp:revision>13</cp:revision>
  <dcterms:created xsi:type="dcterms:W3CDTF">2021-02-16T05:19:01Z</dcterms:created>
  <dcterms:modified xsi:type="dcterms:W3CDTF">2026-10-03T05:52:11Z</dcterms:modified>
</cp:coreProperties>
</file>